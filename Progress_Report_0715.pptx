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914400" cy="9144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0"/>
            <a:ext cx="9875520" cy="914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3000" b="1">
                <a:solidFill>
                  <a:srgbClr val="2563EB"/>
                </a:solidFill>
                <a:latin typeface="Segoe UI"/>
                <a:ea typeface="Microsoft YaHei"/>
              </a:rPr>
              <a:t>Overall Progress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8A97AB"/>
                </a:solidFill>
                <a:latin typeface="Microsoft YaHei"/>
                <a:ea typeface="Microsoft YaHei"/>
              </a:rPr>
              <a:t>整体推进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91672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84 merged risks tracked one-by-one to closure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84 项风险清单合并统一跟踪，逐条闭环推进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62072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Key design deliverables — current status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关键设计文件更新 · 当前状态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Cleaning plan in progress (Chaoqun; Xiantao ref.)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清洗方案编制中（Chaoqun 主责，Xiantao 提供参考）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3D Layout ready — pending joint review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3D 布置已完成，待综合讨论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Control Philosophy draft ready — pending review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控制策略已有初版，待综合讨论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Catalyst charging plan under CN discussion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催化剂加料方案 国内讨论中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Bi-weekly Progress 2026-07-01 ~ 07-15    ·    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914400" cy="9144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0"/>
            <a:ext cx="9875520" cy="914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3000" b="1">
                <a:solidFill>
                  <a:srgbClr val="16A34A"/>
                </a:solidFill>
                <a:latin typeface="Segoe UI"/>
                <a:ea typeface="Microsoft YaHei"/>
              </a:rPr>
              <a:t>Key Technical Discussions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8A97AB"/>
                </a:solidFill>
                <a:latin typeface="Microsoft YaHei"/>
                <a:ea typeface="Microsoft YaHei"/>
              </a:rPr>
              <a:t>关键技术讨论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91672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SE01 separator — direction preliminarily set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SE01 气液分离器重点讨论，初步确定思路方向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Remove side branch · enlarge the vessel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去旁路 · 加大分离器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Use a flat plate to carry level transmitter / spray ball / relief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用 flat plate 承载液位计 / 喷淋球 / 泄放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05656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Design temperature / flange class discussed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设计温度 / 法兰等级讨论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47488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Leak-test strategy discussed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检漏策略讨论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Bi-weekly Progress 2026-07-01 ~ 07-15    ·    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914400" cy="9144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0"/>
            <a:ext cx="9875520" cy="914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3000" b="1">
                <a:solidFill>
                  <a:srgbClr val="DC2626"/>
                </a:solidFill>
                <a:latin typeface="Segoe UI"/>
                <a:ea typeface="Microsoft YaHei"/>
              </a:rPr>
              <a:t>⚠  Decisions Needed from Leadership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8A97AB"/>
                </a:solidFill>
                <a:latin typeface="Microsoft YaHei"/>
                <a:ea typeface="Microsoft YaHei"/>
              </a:rPr>
              <a:t>需领导层决策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91672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91672" cy="1051560"/>
          </a:xfrm>
          <a:prstGeom prst="roundRect">
            <a:avLst/>
          </a:prstGeom>
          <a:solidFill>
            <a:srgbClr val="FDF2F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10607040" cy="832103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2200" b="1">
                <a:solidFill>
                  <a:srgbClr val="DC2626"/>
                </a:solidFill>
                <a:latin typeface="Segoe UI"/>
                <a:ea typeface="Microsoft YaHei"/>
              </a:rPr>
              <a:t>● </a:t>
            </a:r>
            <a:r>
              <a:rPr sz="2100" b="1">
                <a:solidFill>
                  <a:srgbClr val="991B1B"/>
                </a:solidFill>
                <a:latin typeface="Segoe UI"/>
                <a:ea typeface="Microsoft YaHei"/>
              </a:rPr>
              <a:t>Capacity — CR01 DN80→DN50 may fall below URS 30 kg/day. Keep capacity or revise URS?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45C5C"/>
                </a:solidFill>
                <a:latin typeface="Microsoft YaHei"/>
                <a:ea typeface="Microsoft YaHei"/>
              </a:rPr>
              <a:t>产能：CR01 缩径（DN80→DN50）可能低于 URS 30 kg/day → 保产能 or 调整 URS？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8A97AB"/>
                </a:solidFill>
                <a:latin typeface="Segoe UI"/>
                <a:ea typeface="Microsoft YaHei"/>
              </a:rPr>
              <a:t>●  </a:t>
            </a:r>
            <a:r>
              <a:rPr sz="1400" b="0">
                <a:solidFill>
                  <a:srgbClr val="5A6675"/>
                </a:solidFill>
                <a:latin typeface="Segoe UI"/>
                <a:ea typeface="Microsoft YaHei"/>
              </a:rPr>
              <a:t>Transport — whole-unit lift vs modular skids (align with roof replacement?)</a:t>
            </a:r>
          </a:p>
          <a:p>
            <a:pPr>
              <a:spcBef>
                <a:spcPts val="100"/>
              </a:spcBef>
            </a:pPr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运输：整体吊装 vs 分撬模块化（是否配合屋顶更换）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70832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8A97AB"/>
                </a:solidFill>
                <a:latin typeface="Segoe UI"/>
                <a:ea typeface="Microsoft YaHei"/>
              </a:rPr>
              <a:t>●  </a:t>
            </a:r>
            <a:r>
              <a:rPr sz="1400" b="0">
                <a:solidFill>
                  <a:srgbClr val="5A6675"/>
                </a:solidFill>
                <a:latin typeface="Segoe UI"/>
                <a:ea typeface="Microsoft YaHei"/>
              </a:rPr>
              <a:t>CE — on-site assembly needs a CE-mark rep in the UK for 3–4 weeks; certification boundary &amp; cost</a:t>
            </a:r>
          </a:p>
          <a:p>
            <a:pPr>
              <a:spcBef>
                <a:spcPts val="100"/>
              </a:spcBef>
            </a:pPr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认证：现场组装需 CE-mark 人员赴英 3–4 周 → 边界与成本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Bi-weekly Progress 2026-07-01 ~ 07-15    ·    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914400" cy="914400"/>
          </a:xfrm>
          <a:prstGeom prst="round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  <a:ea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0"/>
            <a:ext cx="9875520" cy="914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3000" b="1">
                <a:solidFill>
                  <a:srgbClr val="0E9AA7"/>
                </a:solidFill>
                <a:latin typeface="Segoe UI"/>
                <a:ea typeface="Microsoft YaHei"/>
              </a:rPr>
              <a:t>Next Steps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8A97AB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91672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Size up SE01 &amp; consult Rosemount on the probe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SE01 做大方案测算 + 与 Rosemount 沟通探针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62072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Cleaning plan next week → align acceptance criteria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清洗方案下周出 → 对齐验收标准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Control philosophy &amp; interlock schedule next week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控制策略 / 联锁清单下周发出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Bi-weekly Progress 2026-07-01 ~ 07-15    ·    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