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2563EB"/>
                </a:solidFill>
                <a:latin typeface="Segoe UI"/>
                <a:ea typeface="Microsoft YaHei"/>
              </a:rPr>
              <a:t>Overall Progress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整体推进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Four key deliverables now issued to all parties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四份关键交付文件已同步发出（超群）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3D model · Cleaning plan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3D 模型 · 清洗方案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Project interlock schedule · Control philosophy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项目联锁表 · 控制说明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38144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China team completing final internal review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China team 正在进行最后复核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87952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Joint review with Keith / SW starts next week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下周开始与 Keith 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84 merged risk items managed under one tracker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84 项风险清单合并统一跟踪，逐条闭环推进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2026-07-15 ~ 07-29    ·    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16A34A"/>
                </a:solidFill>
                <a:latin typeface="Segoe UI"/>
                <a:ea typeface="Microsoft YaHei"/>
              </a:rPr>
              <a:t>Key Technical Progress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关键技术进展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SE01 separator — design direction locked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SE01 气液分离器设计方向已确定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Top-mounted level transmitter · flat-top vessel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液位计顶装内伸 · 平顶型式多布管口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B7C0CF"/>
                </a:solidFill>
                <a:latin typeface="Segoe UI"/>
                <a:ea typeface="Microsoft YaHei"/>
              </a:rPr>
              <a:t>        –  </a:t>
            </a:r>
            <a:r>
              <a:rPr sz="1400" b="0">
                <a:solidFill>
                  <a:srgbClr val="3C4A5A"/>
                </a:solidFill>
                <a:latin typeface="Segoe UI"/>
                <a:ea typeface="Microsoft YaHei"/>
              </a:rPr>
              <a:t>Set / design pressure 7.5 MPaG to keep CLASS 900</a:t>
            </a:r>
          </a:p>
          <a:p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        起跳/设计压力 7.5 MPaG 以保 CLASS 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38144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Reactor CR01 sizing — tentatively DN65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反应器 CR01 暂定 DN65，9 月实验数据后定案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87952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Cleaning strategy &amp; interlock bypass approach defined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清洗策略与联锁绕过方式已明确（增大排净管径 + 清洗模式）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16A34A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Cable schedule aligned against SW single-line diagram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电缆清单已按 SW 单线图核对更新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2026-07-15 ~ 07-29    ·    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DC2626"/>
                </a:solidFill>
                <a:latin typeface="Segoe UI"/>
                <a:ea typeface="Microsoft YaHei"/>
              </a:rPr>
              <a:t>⚠  Decisions Needed from Leadership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需领导层决策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05156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10607040" cy="832103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2200" b="1">
                <a:solidFill>
                  <a:srgbClr val="DC2626"/>
                </a:solidFill>
                <a:latin typeface="Segoe UI"/>
                <a:ea typeface="Microsoft YaHei"/>
              </a:rPr>
              <a:t>● </a:t>
            </a:r>
            <a:r>
              <a:rPr sz="2100" b="1">
                <a:solidFill>
                  <a:srgbClr val="991B1B"/>
                </a:solidFill>
                <a:latin typeface="Segoe UI"/>
                <a:ea typeface="Microsoft YaHei"/>
              </a:rPr>
              <a:t>Capacity — CR01 final size DN65 or DN50, to be set on September R&amp;D test data. URS 30 kg/day at stake.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45C5C"/>
                </a:solidFill>
                <a:latin typeface="Microsoft YaHei"/>
                <a:ea typeface="Microsoft YaHei"/>
              </a:rPr>
              <a:t>产能：CR01 最终定 DN65 或 DN50，依据 9 月研发实验数据 → 关系 URS 30 kg/day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Transport — four modular skids vs whole-unit lift through the roof (align with roof replacement?)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运输：4 撬块分体运输 vs 屋顶整体吊装（是否配合屋顶更换）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33087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b="1">
                <a:solidFill>
                  <a:srgbClr val="8A97AB"/>
                </a:solidFill>
                <a:latin typeface="Segoe UI"/>
                <a:ea typeface="Microsoft YaHei"/>
              </a:rPr>
              <a:t>●  </a:t>
            </a:r>
            <a:r>
              <a:rPr sz="1400" b="0">
                <a:solidFill>
                  <a:srgbClr val="5A6675"/>
                </a:solidFill>
                <a:latin typeface="Segoe UI"/>
                <a:ea typeface="Microsoft YaHei"/>
              </a:rPr>
              <a:t>CE — whether the Notified Body must verify on site in the UK before issuing the DoC; boundary &amp; cost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8A97AB"/>
                </a:solidFill>
                <a:latin typeface="Microsoft YaHei"/>
                <a:ea typeface="Microsoft YaHei"/>
              </a:rPr>
              <a:t>     认证：认证机构是否需赴英现场验证后才发证 → 边界与成本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2026-07-15 ~ 07-29    ·    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914400" cy="9144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9875520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3000" b="1">
                <a:solidFill>
                  <a:srgbClr val="0E9AA7"/>
                </a:solidFill>
                <a:latin typeface="Segoe UI"/>
                <a:ea typeface="Microsoft YaHei"/>
              </a:rPr>
              <a:t>Next Steps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8A97A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18288"/>
          </a:xfrm>
          <a:prstGeom prst="rect">
            <a:avLst/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Close out China-side review, then issue package to SW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完成国内复核后正式发出文件包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Start joint review with Keith next week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下周启动与 Keith 的联合讨论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9856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HAZOP documents &amp; preparation on plan for early September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HAZOP 文件与准备按计划推进，目标 9 月初开展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9664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E9AA7"/>
                </a:solidFill>
                <a:latin typeface="Segoe UI"/>
                <a:ea typeface="Microsoft YaHei"/>
              </a:rPr>
              <a:t>●  </a:t>
            </a:r>
            <a:r>
              <a:rPr sz="1900" b="1">
                <a:solidFill>
                  <a:srgbClr val="1E2B3A"/>
                </a:solidFill>
                <a:latin typeface="Segoe UI"/>
                <a:ea typeface="Microsoft YaHei"/>
              </a:rPr>
              <a:t>O&amp;M manual — the only deliverable still in preparation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8A97AB"/>
                </a:solidFill>
                <a:latin typeface="Microsoft YaHei"/>
                <a:ea typeface="Microsoft YaHei"/>
              </a:rPr>
              <a:t>     操作维护手册为唯一在编交付文件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Asymchem · Sandwich Site   |   Continuous Hydrogenation Skid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AA6B8"/>
                </a:solidFill>
                <a:latin typeface="Segoe UI"/>
                <a:ea typeface="Microsoft YaHei"/>
              </a:rPr>
              <a:t>Bi-weekly Progress 2026-07-15 ~ 07-29    ·    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