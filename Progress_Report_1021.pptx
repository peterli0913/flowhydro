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2563EB"/>
                </a:solidFill>
                <a:latin typeface="Segoe UI"/>
              </a:rPr>
              <a:t>Overall Progress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23 September – 21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17904"/>
            <a:ext cx="11183112" cy="1220597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17904"/>
            <a:ext cx="64008" cy="122059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81912"/>
            <a:ext cx="10744200" cy="11291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After several review rounds with SW, the positions of the key equipment are largely settled.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Three modules; the front module pulls out for maintenance.  BT01, BT04, the separator and the condenser sit forward; the separator is lowered.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Reviews this period: 8, 15 and 20 October, on models issued by CFCT.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48229"/>
            <a:ext cx="11183112" cy="7457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48229"/>
            <a:ext cx="64008" cy="745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12236"/>
            <a:ext cx="10744200" cy="654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We are now going through the model at true positions: nozzle orientation, valve positions, pipe routing, and replacing instruments that take too much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700"/>
            <a:ext cx="11183112" cy="7457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03700"/>
            <a:ext cx="64008" cy="745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767708"/>
            <a:ext cx="10744200" cy="654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Two decisions in this report: the re-estimated equipment cost against the approved budget, and DN65 for Reactor 1 (R24-CR01).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59173"/>
            <a:ext cx="11183112" cy="95935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559173"/>
            <a:ext cx="64008" cy="95935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623181"/>
            <a:ext cx="10744200" cy="8679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Action register (20 Oct): 63 closed, 47 pending, 28 open.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Three items added: multipoint reactor temperature, metering-pump pulsation damper, and the position of the split control cabinets.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16A34A"/>
                </a:solidFill>
                <a:latin typeface="Segoe UI"/>
              </a:rPr>
              <a:t>Layout — Settled and Open Points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From the 8, 15 and 20 October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95935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95935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10744200" cy="8679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TCU tie-in: the site TCU lines can shift about 150 mm to meet the skid nozzles (agreed 15 Oct).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Flanged wall plate; the ten lines may stack in two layers after the wall.  The Reactor 3 bottom HTF now turns toward the wall riser.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126"/>
            <a:ext cx="11183112" cy="126822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32126"/>
            <a:ext cx="64008" cy="126822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96134"/>
            <a:ext cx="10744200" cy="117678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Split control cabinets: three cabinets / junction boxes are placed in the 3D at their current sizes (20 Oct).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Main IS cabinet: 5 AI, 3 DI, 3 DO; minimum 530 × 450 × 230 mm, down from 950 × 450 × 350 mm.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New IS cabinet on module 2: 3 RTD, 5 AI, 1 DI; minimum 470 × 450 × 230 mm.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91788"/>
            <a:ext cx="11183112" cy="752983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91788"/>
            <a:ext cx="64008" cy="75298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55796"/>
            <a:ext cx="10744200" cy="66154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Remote IS I/O panel: SW budget price about £20k, 10–12 weeks.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Module list and Profinet / Profibus to be aligned first; then the quote is firmed up and the purchase route (UK or China) agreed.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36211"/>
            <a:ext cx="11183112" cy="101422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36211"/>
            <a:ext cx="64008" cy="101422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800219"/>
            <a:ext cx="10744200" cy="92278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Open: SE01 / CU01 — wall side or end face of module 3.  Drain and CIP valves at the front.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The end-face option clashes with the Reactor 3 HTF.  Both points are in the 20 Oct model for SW review.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Valves within 300–400 mm of the end stay manual; beyond that, compact actuated valves.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16A34A"/>
                </a:solidFill>
                <a:latin typeface="Segoe UI"/>
              </a:rPr>
              <a:t>Detailed Review — Pump and Instruments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Smaller, higher-specification items where space is tight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199707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9970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10744200" cy="190563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Metering pump: a three-head pump with inlet and outlet manifolds and no discharge damper replaces the single head with a pulsation damper.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Addresses SW's concern: the damper is a dead leg, and a diaphragm failure could go undetected.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Vendor drawing received 20 Oct and placed in the 3D; pulsation curves supplied.  20 L/h, 7.5 MPa discharge, GMP.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CE marking is sufficient; no foreign motor brand is required (15 Oct).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Vendor: flow can be calibrated on site for each material; a flowmeter is needed only for remote flow indication.  To be confirmed by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88131"/>
            <a:ext cx="11183112" cy="147459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588131"/>
            <a:ext cx="64008" cy="14745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52139"/>
            <a:ext cx="10744200" cy="13831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Reactor temperatures: SW's multipoint RTD concept is feasible — no local transmitters or displays; readings on the HMI.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E+H iTherm MultiSens Slim TMS21 on flexible conduit, wired direct to Siemens RTD module 6ES7134-7SD51-0AB0 in the ET200iSP panel.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E+H has confirmed supply; Siemens has confirmed the RTD module.  Parameter review with E+H this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72456"/>
            <a:ext cx="11183112" cy="7457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172456"/>
            <a:ext cx="64008" cy="74574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236464"/>
            <a:ext cx="10744200" cy="654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Wider instrument selection: level gauges become guided-wave radar transmitters; on/off valves drop from 12 to 6; pressure control moves to electronic controllers and regulators.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DC2626"/>
                </a:solidFill>
                <a:latin typeface="Segoe UI"/>
              </a:rPr>
              <a:t>Decision 1 — Equipment Cost Re-estimate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Skid and auxiliary equipment, CFCT estimate, RMB thousand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83112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 i="0">
                <a:solidFill>
                  <a:srgbClr val="5B6B80"/>
                </a:solidFill>
                <a:latin typeface="Segoe UI"/>
              </a:rPr>
              <a:t>Because of the skid space, components were re-selected for better performance and a smaller size.  Fewer items in several categories; higher unit prices.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84248"/>
          <a:ext cx="11183112" cy="37216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63240"/>
                <a:gridCol w="4279392"/>
                <a:gridCol w="1280160"/>
                <a:gridCol w="1280160"/>
                <a:gridCol w="128016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Quantity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Previous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Current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Main equipment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10 → 10  (feed buffer tank removed, sampler added)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946.0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1,049.4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B91C1C"/>
                          </a:solidFill>
                          <a:latin typeface="Segoe UI"/>
                        </a:rPr>
                        <a:t>+103.4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Pumps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 → 1  (one three-head metering pump)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260.0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250.0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5803D"/>
                          </a:solidFill>
                          <a:latin typeface="Segoe UI"/>
                        </a:rPr>
                        <a:t>−10.0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Flowmeters and controllers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5 →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315.0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400.0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B91C1C"/>
                          </a:solidFill>
                          <a:latin typeface="Segoe UI"/>
                        </a:rPr>
                        <a:t>+85.0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Temperature transmitters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19 → 11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136.8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147.6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B91C1C"/>
                          </a:solidFill>
                          <a:latin typeface="Segoe UI"/>
                        </a:rPr>
                        <a:t>+10.8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Pressure transmitters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16 → 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169.0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B91C1C"/>
                          </a:solidFill>
                          <a:latin typeface="Segoe UI"/>
                        </a:rPr>
                        <a:t>+57.0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Level instruments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4 gauges → 3 transmitters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80.0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68.5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5803D"/>
                          </a:solidFill>
                          <a:latin typeface="Segoe UI"/>
                        </a:rPr>
                        <a:t>−11.5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Control valves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5 → 5 pressure controllers / regulators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100.0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240.0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B91C1C"/>
                          </a:solidFill>
                          <a:latin typeface="Segoe UI"/>
                        </a:rPr>
                        <a:t>+140.0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On/off valves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12 → 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96.0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48.0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5803D"/>
                          </a:solidFill>
                          <a:latin typeface="Segoe UI"/>
                        </a:rPr>
                        <a:t>−48.0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Subtotal, eight categories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2,045.8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2,372.5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B91C1C"/>
                          </a:solidFill>
                          <a:latin typeface="Segoe UI"/>
                        </a:rPr>
                        <a:t>+326.7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Skid and auxiliary equipment, total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≈ 2,840.0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3,172.3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B91C1C"/>
                          </a:solidFill>
                          <a:latin typeface="Segoe UI"/>
                        </a:rPr>
                        <a:t>≈ +330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15584"/>
            <a:ext cx="11183112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1">
                <a:solidFill>
                  <a:srgbClr val="5B6B80"/>
                </a:solidFill>
                <a:latin typeface="Segoe UI"/>
              </a:rPr>
              <a:t>Modular assembly, CE certification and freight are not yet re-estimated and are carried at the previous figures.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DC2626"/>
                </a:solidFill>
                <a:latin typeface="Segoe UI"/>
              </a:rPr>
              <a:t>Decision 1 — Against the Approved Budget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Skid and auxiliary equipment + E&amp;I and control cabinets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81328"/>
          <a:ext cx="11183112" cy="3566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159752"/>
                <a:gridCol w="2011680"/>
                <a:gridCol w="2011680"/>
              </a:tblGrid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RMB thousand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GBP</a:t>
                      </a:r>
                    </a:p>
                  </a:txBody>
                  <a:tcPr marL="73152" marR="73152" marT="27432" marB="27432" anchor="ctr">
                    <a:solidFill>
                      <a:srgbClr val="7F1D1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Approved budget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351,591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  at approval rate, 1 GBP = 9.62 RMB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3,382.3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  at today's rate, 1 GBP = 8.93 RMB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3,139.7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Current estimate — skid and auxiliary equipment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3,172.3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Current estimate — E&amp;I and control cabinets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540.8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Current estimate — total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3,713.1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2B3A"/>
                          </a:solidFill>
                          <a:latin typeface="Segoe UI"/>
                        </a:rPr>
                        <a:t>415,803</a:t>
                      </a:r>
                    </a:p>
                  </a:txBody>
                  <a:tcPr marL="73152" marR="73152" marT="27432" marB="27432" anchor="ctr">
                    <a:solidFill>
                      <a:srgbClr val="EEF2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91C1C"/>
                          </a:solidFill>
                          <a:latin typeface="Segoe UI"/>
                        </a:rPr>
                        <a:t>Over budget at today's rate  (18.3%)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B91C1C"/>
                          </a:solidFill>
                          <a:latin typeface="Segoe UI"/>
                        </a:rPr>
                        <a:t>573.4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B91C1C"/>
                          </a:solidFill>
                          <a:latin typeface="Segoe UI"/>
                        </a:rPr>
                        <a:t>64,212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  of which cost change  (10.5 pts)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330.8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  of which exchange rate  (7.7 pts)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>242.6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E2B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248656"/>
            <a:ext cx="11183112" cy="100698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248656"/>
            <a:ext cx="64008" cy="100698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312664"/>
            <a:ext cx="10744200" cy="91554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At today's rate the estimate is 18.3% over the approved budget.  7.7 points of that is the exchange rate.  Had the rate stayed at 9.62, the estimate would be 9.8% over.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Assembly, certification and freight are still to be re-estimated, so the total may move.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7C3AED"/>
                </a:solidFill>
                <a:latin typeface="Segoe UI"/>
              </a:rPr>
              <a:t>Decision 2 — Reactor 1 (R24-CR01) at DN65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Preliminary decision, 15 October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752983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75298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10744200" cy="66154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R24-CR01 goes to DN65 — the same diameter as Reactors 2 and 3.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Datasheet basis: 3.5 L and 0.23 m² heat-transfer area (DN80 was 5.1 L and 0.27 m²).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25751"/>
            <a:ext cx="11183112" cy="1275461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5751"/>
            <a:ext cx="64008" cy="127546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89759"/>
            <a:ext cx="10744200" cy="118402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Catalyst charging decides it.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DN50: the largest catalyst charge and discharge nozzle is 3/4"; the smallest bottom discharge valve is 3/4".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SW view (8 Oct): 1/2" would not take the catalyst; 3/4" would be difficult.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DN65 keeps the 1" charge and discharge nozzles already designed.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2652"/>
            <a:ext cx="11183112" cy="100698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92652"/>
            <a:ext cx="64008" cy="100698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756660"/>
            <a:ext cx="10744200" cy="91554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Temperature: R&amp;D measured about 5–7 °C rise at DN40 and a 15–18 °C hot spot at DN65.  There is no DN50 data.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5B6B80"/>
                </a:solidFill>
                <a:latin typeface="Segoe UI"/>
              </a:rPr>
              <a:t>At DN65 the hot spot can be controlled by diluting the catalyst bed with inert material at loading.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91074"/>
            <a:ext cx="11183112" cy="7457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91074"/>
            <a:ext cx="64008" cy="7457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855082"/>
            <a:ext cx="10744200" cy="654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 i="0">
                <a:solidFill>
                  <a:srgbClr val="1E2B3A"/>
                </a:solidFill>
                <a:latin typeface="Segoe UI"/>
              </a:rPr>
              <a:t>Fits the skid height; DN50 would need a longer column for the same volume.  PFD and mass balance are unchanged; the DN65 relief calculation already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0E9AA7"/>
                </a:solidFill>
                <a:latin typeface="Segoe UI"/>
              </a:rPr>
              <a:t>Next Steps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Segoe UI"/>
              </a:rPr>
              <a:t>Owners and open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4599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45999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10744200" cy="3685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SW (Keith) — review the 20 Oct model: SE01 / CU01 position, drain and CIP valves, cabinet positions, three-head pump.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23618"/>
            <a:ext cx="11183112" cy="6822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23618"/>
            <a:ext cx="64008" cy="68224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87625"/>
            <a:ext cx="10744200" cy="5908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CFCT (Fan Shuangshuang) — freeze nozzle orientation and HTF routes, then release the main-equipment drawings for enquiry.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157"/>
            <a:ext cx="11183112" cy="4599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88157"/>
            <a:ext cx="64008" cy="45999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52165"/>
            <a:ext cx="10744200" cy="3685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CIMT (Meng Dezhi) — align the Siemens IS I/O module list and Profinet / Profibus; agree UK or China purchase.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0447"/>
            <a:ext cx="11183112" cy="4599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30447"/>
            <a:ext cx="64008" cy="45999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94455"/>
            <a:ext cx="10744200" cy="3685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Instruments (Gao Yu) — E+H parameter review; apply the multipoint RTD concept to other temperature points where it suits.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72737"/>
            <a:ext cx="11183112" cy="4599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72737"/>
            <a:ext cx="64008" cy="45999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936746"/>
            <a:ext cx="10744200" cy="3685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Process (Hu Chaoqun) — confirm feed-flow measurement against the three-head pulsation curves.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15028"/>
            <a:ext cx="11183112" cy="4599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15028"/>
            <a:ext cx="64008" cy="45999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79036"/>
            <a:ext cx="10744200" cy="3685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R&amp;D (Dr Feng) — catalyst loading and bed-dilution procedure for R24-CR01 at DN65.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57317"/>
            <a:ext cx="11183112" cy="4599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957317"/>
            <a:ext cx="64008" cy="45999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21326"/>
            <a:ext cx="10744200" cy="3685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400" b="0" i="0">
                <a:solidFill>
                  <a:srgbClr val="3C4A5A"/>
                </a:solidFill>
                <a:latin typeface="Segoe UI"/>
              </a:rPr>
              <a:t>CFCT — re-estimate assembly, certification and freight; update the budget comparison.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</a:rPr>
              <a:t>Asymchem · Sandwich Site   |   Continuous Hydrogenation Skid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</a:rPr>
              <a:t>Progress 2026-09-23 ~ 10-21    ·    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