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6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36C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r>
              <a:rPr sz="1400" b="1" i="0">
                <a:solidFill>
                  <a:srgbClr val="9DB4D0"/>
                </a:solidFill>
                <a:latin typeface="Calibri"/>
                <a:ea typeface="Calibri"/>
                <a:cs typeface="Calibri"/>
              </a:rPr>
              <a:t>SANDWICH  ·  CONTINUOUS HYDROGENATION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972800" cy="1371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r>
              <a:rPr sz="3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Technical discussion with Keith</a:t>
            </a:r>
          </a:p>
          <a:p>
            <a:pPr>
              <a:spcBef>
                <a:spcPts val="800"/>
              </a:spcBef>
            </a:pPr>
            <a:r>
              <a:rPr sz="2000" b="0" i="0">
                <a:solidFill>
                  <a:srgbClr val="D5E2F0"/>
                </a:solidFill>
                <a:latin typeface="Calibri"/>
                <a:ea typeface="Calibri"/>
                <a:cs typeface="Calibri"/>
              </a:rPr>
              <a:t>Tracker close-out and one new instrument risk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65760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r>
              <a:rPr sz="1600" b="1" i="0">
                <a:solidFill>
                  <a:srgbClr val="F6C089"/>
                </a:solidFill>
                <a:latin typeface="Calibri"/>
                <a:ea typeface="Calibri"/>
                <a:cs typeface="Calibri"/>
              </a:rPr>
              <a:t>8 September 2026</a:t>
            </a:r>
          </a:p>
          <a:p>
            <a:pPr>
              <a:spcBef>
                <a:spcPts val="400"/>
              </a:spcBef>
            </a:pPr>
            <a:r>
              <a:rPr sz="1400" b="0" i="0">
                <a:solidFill>
                  <a:srgbClr val="B8C7DA"/>
                </a:solidFill>
                <a:latin typeface="Calibri"/>
                <a:ea typeface="Calibri"/>
                <a:cs typeface="Calibri"/>
              </a:rPr>
              <a:t>Internal working session  ·  not a new HAZOP  ·  close what we can online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5074920"/>
            <a:ext cx="2103120" cy="868680"/>
          </a:xfrm>
          <a:prstGeom prst="roundRect">
            <a:avLst/>
          </a:prstGeom>
          <a:solidFill>
            <a:srgbClr val="0A2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5074920"/>
            <a:ext cx="1883664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r>
              <a:rPr sz="1200" b="1" i="0">
                <a:solidFill>
                  <a:srgbClr val="F6C089"/>
                </a:solidFill>
                <a:latin typeface="Calibri"/>
                <a:ea typeface="Calibri"/>
                <a:cs typeface="Calibri"/>
              </a:rPr>
              <a:t>01</a:t>
            </a:r>
          </a:p>
          <a:p>
            <a:pPr>
              <a:spcBef>
                <a:spcPts val="200"/>
              </a:spcBef>
            </a:pPr>
            <a:r>
              <a:rPr sz="13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Gasket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80360" y="5074920"/>
            <a:ext cx="2103120" cy="868680"/>
          </a:xfrm>
          <a:prstGeom prst="roundRect">
            <a:avLst/>
          </a:prstGeom>
          <a:solidFill>
            <a:srgbClr val="0A2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90088" y="5074920"/>
            <a:ext cx="1883664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r>
              <a:rPr sz="1200" b="1" i="0">
                <a:solidFill>
                  <a:srgbClr val="F6C089"/>
                </a:solidFill>
                <a:latin typeface="Calibri"/>
                <a:ea typeface="Calibri"/>
                <a:cs typeface="Calibri"/>
              </a:rPr>
              <a:t>02</a:t>
            </a:r>
          </a:p>
          <a:p>
            <a:pPr>
              <a:spcBef>
                <a:spcPts val="200"/>
              </a:spcBef>
            </a:pPr>
            <a:r>
              <a:rPr sz="13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3D layout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20640" y="5074920"/>
            <a:ext cx="2103120" cy="868680"/>
          </a:xfrm>
          <a:prstGeom prst="roundRect">
            <a:avLst/>
          </a:prstGeom>
          <a:solidFill>
            <a:srgbClr val="0A2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30368" y="5074920"/>
            <a:ext cx="1883664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r>
              <a:rPr sz="1200" b="1" i="0">
                <a:solidFill>
                  <a:srgbClr val="F6C089"/>
                </a:solidFill>
                <a:latin typeface="Calibri"/>
                <a:ea typeface="Calibri"/>
                <a:cs typeface="Calibri"/>
              </a:rPr>
              <a:t>03</a:t>
            </a:r>
          </a:p>
          <a:p>
            <a:pPr>
              <a:spcBef>
                <a:spcPts val="200"/>
              </a:spcBef>
            </a:pPr>
            <a:r>
              <a:rPr sz="13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PIC-028 vs 270 °C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60920" y="5074920"/>
            <a:ext cx="2103120" cy="868680"/>
          </a:xfrm>
          <a:prstGeom prst="roundRect">
            <a:avLst/>
          </a:prstGeom>
          <a:solidFill>
            <a:srgbClr val="0A2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70648" y="5074920"/>
            <a:ext cx="1883664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r>
              <a:rPr sz="1200" b="1" i="0">
                <a:solidFill>
                  <a:srgbClr val="F6C089"/>
                </a:solidFill>
                <a:latin typeface="Calibri"/>
                <a:ea typeface="Calibri"/>
                <a:cs typeface="Calibri"/>
              </a:rPr>
              <a:t>04</a:t>
            </a:r>
          </a:p>
          <a:p>
            <a:pPr>
              <a:spcBef>
                <a:spcPts val="200"/>
              </a:spcBef>
            </a:pPr>
            <a:r>
              <a:rPr sz="13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PSV if DN50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01200" y="5074920"/>
            <a:ext cx="2103120" cy="868680"/>
          </a:xfrm>
          <a:prstGeom prst="roundRect">
            <a:avLst/>
          </a:prstGeom>
          <a:solidFill>
            <a:srgbClr val="0A2A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10928" y="5074920"/>
            <a:ext cx="1883664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r>
              <a:rPr sz="1200" b="1" i="0">
                <a:solidFill>
                  <a:srgbClr val="F6C089"/>
                </a:solidFill>
                <a:latin typeface="Calibri"/>
                <a:ea typeface="Calibri"/>
                <a:cs typeface="Calibri"/>
              </a:rPr>
              <a:t>05</a:t>
            </a:r>
          </a:p>
          <a:p>
            <a:pPr>
              <a:spcBef>
                <a:spcPts val="200"/>
              </a:spcBef>
            </a:pPr>
            <a:r>
              <a:rPr sz="13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Tracker close-out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36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1133856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r>
              <a:rPr sz="1200" b="1" i="0">
                <a:solidFill>
                  <a:srgbClr val="00366A"/>
                </a:solidFill>
                <a:latin typeface="Calibri"/>
                <a:ea typeface="Calibri"/>
                <a:cs typeface="Calibri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38912"/>
            <a:ext cx="11338560" cy="43891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r>
              <a:rPr sz="2600" b="1" i="0">
                <a:solidFill>
                  <a:srgbClr val="00366A"/>
                </a:solidFill>
                <a:latin typeface="Calibri"/>
                <a:ea typeface="Calibri"/>
                <a:cs typeface="Calibri"/>
              </a:rPr>
              <a:t>What we need to cover today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097280"/>
            <a:ext cx="11338560" cy="896112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316736"/>
            <a:ext cx="640080" cy="457200"/>
          </a:xfrm>
          <a:prstGeom prst="roundRect">
            <a:avLst/>
          </a:prstGeom>
          <a:solidFill>
            <a:srgbClr val="1B7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316736"/>
            <a:ext cx="6400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1261872"/>
            <a:ext cx="1234440" cy="256032"/>
          </a:xfrm>
          <a:prstGeom prst="roundRect">
            <a:avLst/>
          </a:prstGeom>
          <a:solidFill>
            <a:srgbClr val="1B7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1261872"/>
            <a:ext cx="1234440" cy="25603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INFORM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1207007"/>
            <a:ext cx="8732520" cy="6766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r>
              <a:rPr sz="1600" b="1" i="0">
                <a:solidFill>
                  <a:srgbClr val="00366A"/>
                </a:solidFill>
                <a:latin typeface="Calibri"/>
                <a:ea typeface="Calibri"/>
                <a:cs typeface="Calibri"/>
              </a:rPr>
              <a:t>High-pressure gasket</a:t>
            </a:r>
          </a:p>
          <a:p>
            <a:pPr>
              <a:spcBef>
                <a:spcPts val="300"/>
              </a:spcBef>
            </a:pPr>
            <a:r>
              <a:rPr sz="1300" b="0" i="0">
                <a:solidFill>
                  <a:srgbClr val="5B6B7C"/>
                </a:solidFill>
                <a:latin typeface="Calibri"/>
                <a:ea typeface="Calibri"/>
                <a:cs typeface="Calibri"/>
              </a:rPr>
              <a:t>Vendor can supply a 316L metal-ring gasket if hardness limits are written into the spec.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2075688"/>
            <a:ext cx="11338560" cy="896112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48640" y="2295144"/>
            <a:ext cx="640080" cy="457200"/>
          </a:xfrm>
          <a:prstGeom prst="roundRect">
            <a:avLst/>
          </a:prstGeom>
          <a:solidFill>
            <a:srgbClr val="0E9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295144"/>
            <a:ext cx="6400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371600" y="2240280"/>
            <a:ext cx="1234440" cy="256032"/>
          </a:xfrm>
          <a:prstGeom prst="roundRect">
            <a:avLst/>
          </a:prstGeom>
          <a:solidFill>
            <a:srgbClr val="0E9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71600" y="2240280"/>
            <a:ext cx="1234440" cy="25603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DISCUSS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2185416"/>
            <a:ext cx="8732520" cy="6766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r>
              <a:rPr sz="1600" b="1" i="0">
                <a:solidFill>
                  <a:srgbClr val="00366A"/>
                </a:solidFill>
                <a:latin typeface="Calibri"/>
                <a:ea typeface="Calibri"/>
                <a:cs typeface="Calibri"/>
              </a:rPr>
              <a:t>3D layout — three-cavity, height, control panel</a:t>
            </a:r>
          </a:p>
          <a:p>
            <a:pPr>
              <a:spcBef>
                <a:spcPts val="300"/>
              </a:spcBef>
            </a:pPr>
            <a:r>
              <a:rPr sz="1300" b="0" i="0">
                <a:solidFill>
                  <a:srgbClr val="5B6B7C"/>
                </a:solidFill>
                <a:latin typeface="Calibri"/>
                <a:ea typeface="Calibri"/>
                <a:cs typeface="Calibri"/>
              </a:rPr>
              <a:t>A draft based on Keith’s three-cavity idea is ready. Close what we can before the site week.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3054096"/>
            <a:ext cx="11338560" cy="896112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48640" y="3273552"/>
            <a:ext cx="640080" cy="457200"/>
          </a:xfrm>
          <a:prstGeom prst="roundRect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273552"/>
            <a:ext cx="6400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371600" y="3218688"/>
            <a:ext cx="1234440" cy="256032"/>
          </a:xfrm>
          <a:prstGeom prst="roundRect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71600" y="3218688"/>
            <a:ext cx="1234440" cy="25603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DECIDE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0" y="3163824"/>
            <a:ext cx="8732520" cy="6766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r>
              <a:rPr sz="1600" b="1" i="0">
                <a:solidFill>
                  <a:srgbClr val="00366A"/>
                </a:solidFill>
                <a:latin typeface="Calibri"/>
                <a:ea typeface="Calibri"/>
                <a:cs typeface="Calibri"/>
              </a:rPr>
              <a:t>Separator vapour-outlet valve vs 270 °C</a:t>
            </a:r>
          </a:p>
          <a:p>
            <a:pPr>
              <a:spcBef>
                <a:spcPts val="300"/>
              </a:spcBef>
            </a:pPr>
            <a:r>
              <a:rPr sz="1300" b="0" i="0">
                <a:solidFill>
                  <a:srgbClr val="5B6B7C"/>
                </a:solidFill>
                <a:latin typeface="Calibri"/>
                <a:ea typeface="Calibri"/>
                <a:cs typeface="Calibri"/>
              </a:rPr>
              <a:t>Bronkhorst electronics may fail at 270 °C. No qualified alternative yet. This is the new risk.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1480" y="4032504"/>
            <a:ext cx="11338560" cy="896112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48640" y="4251960"/>
            <a:ext cx="640080" cy="457200"/>
          </a:xfrm>
          <a:prstGeom prst="round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4251960"/>
            <a:ext cx="6400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371600" y="4197096"/>
            <a:ext cx="1234440" cy="256032"/>
          </a:xfrm>
          <a:prstGeom prst="round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71600" y="4197096"/>
            <a:ext cx="1234440" cy="25603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CLARIFY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0" y="4142232"/>
            <a:ext cx="8732520" cy="6766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r>
              <a:rPr sz="1600" b="1" i="0">
                <a:solidFill>
                  <a:srgbClr val="00366A"/>
                </a:solidFill>
                <a:latin typeface="Calibri"/>
                <a:ea typeface="Calibri"/>
                <a:cs typeface="Calibri"/>
              </a:rPr>
              <a:t>Relief-valve size if the reactor is DN50</a:t>
            </a:r>
          </a:p>
          <a:p>
            <a:pPr>
              <a:spcBef>
                <a:spcPts val="300"/>
              </a:spcBef>
            </a:pPr>
            <a:r>
              <a:rPr sz="1300" b="0" i="0">
                <a:solidFill>
                  <a:srgbClr val="5B6B7C"/>
                </a:solidFill>
                <a:latin typeface="Calibri"/>
                <a:ea typeface="Calibri"/>
                <a:cs typeface="Calibri"/>
              </a:rPr>
              <a:t>DN80 and DN65 already share the same orifice. Confirm whether DN50 still can.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11480" y="5010912"/>
            <a:ext cx="11338560" cy="896112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48640" y="5230368"/>
            <a:ext cx="640080" cy="457200"/>
          </a:xfrm>
          <a:prstGeom prst="roundRect">
            <a:avLst/>
          </a:prstGeom>
          <a:solidFill>
            <a:srgbClr val="0036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5230368"/>
            <a:ext cx="6400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05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371600" y="5175504"/>
            <a:ext cx="1234440" cy="256032"/>
          </a:xfrm>
          <a:prstGeom prst="roundRect">
            <a:avLst/>
          </a:prstGeom>
          <a:solidFill>
            <a:srgbClr val="0036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371600" y="5175504"/>
            <a:ext cx="1234440" cy="25603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CONFIRM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43200" y="5120640"/>
            <a:ext cx="8732520" cy="676656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r>
              <a:rPr sz="1600" b="1" i="0">
                <a:solidFill>
                  <a:srgbClr val="00366A"/>
                </a:solidFill>
                <a:latin typeface="Calibri"/>
                <a:ea typeface="Calibri"/>
                <a:cs typeface="Calibri"/>
              </a:rPr>
              <a:t>Tracker lines already answered</a:t>
            </a:r>
          </a:p>
          <a:p>
            <a:pPr>
              <a:spcBef>
                <a:spcPts val="300"/>
              </a:spcBef>
            </a:pPr>
            <a:r>
              <a:rPr sz="1300" b="0" i="0">
                <a:solidFill>
                  <a:srgbClr val="5B6B7C"/>
                </a:solidFill>
                <a:latin typeface="Calibri"/>
                <a:ea typeface="Calibri"/>
                <a:cs typeface="Calibri"/>
              </a:rPr>
              <a:t>Cleaning, operating manual and control description — please confirm which lines can close.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036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1480" y="6656832"/>
            <a:ext cx="7498079" cy="20116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r>
              <a:rPr sz="100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Asymchem  ·  Sandwich continuous hydrogenation  ·  Discussion with Keith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509760" y="6656832"/>
            <a:ext cx="2286000" cy="20116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8 Sep 2026    02 / 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36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1133856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r>
              <a:rPr sz="1200" b="1" i="0">
                <a:solidFill>
                  <a:srgbClr val="00366A"/>
                </a:solidFill>
                <a:latin typeface="Calibri"/>
                <a:ea typeface="Calibri"/>
                <a:cs typeface="Calibri"/>
              </a:rPr>
              <a:t>01  ·  INFORM / CONFIRM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38912"/>
            <a:ext cx="11338560" cy="43891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r>
              <a:rPr sz="2600" b="1" i="0">
                <a:solidFill>
                  <a:srgbClr val="00366A"/>
                </a:solidFill>
                <a:latin typeface="Calibri"/>
                <a:ea typeface="Calibri"/>
                <a:cs typeface="Calibri"/>
              </a:rPr>
              <a:t>High-pressure gasket — vendor result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078992"/>
            <a:ext cx="5532120" cy="4572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507492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r>
              <a:rPr sz="1400" b="1" i="0">
                <a:solidFill>
                  <a:srgbClr val="0E9AA7"/>
                </a:solidFill>
                <a:latin typeface="Calibri"/>
                <a:ea typeface="Calibri"/>
                <a:cs typeface="Calibri"/>
              </a:rPr>
              <a:t>Already agreed on 25 Aug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91640"/>
            <a:ext cx="5074920" cy="38404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spcBef>
                <a:spcPts val="0"/>
              </a:spcBef>
            </a:pPr>
            <a:r>
              <a:rPr sz="1400" b="0" i="0">
                <a:solidFill>
                  <a:srgbClr val="0E9AA7"/>
                </a:solidFill>
                <a:latin typeface="Calibri"/>
                <a:ea typeface="Calibri"/>
                <a:cs typeface="Calibri"/>
              </a:rPr>
              <a:t>●  </a:t>
            </a:r>
            <a:r>
              <a:rPr sz="1400" b="0" i="0">
                <a:solidFill>
                  <a:srgbClr val="1E2B3A"/>
                </a:solidFill>
                <a:latin typeface="Calibri"/>
                <a:ea typeface="Calibri"/>
                <a:cs typeface="Calibri"/>
              </a:rPr>
              <a:t>Primary route: 316L octagonal metal-ring gasket.</a:t>
            </a:r>
          </a:p>
          <a:p>
            <a:pPr>
              <a:spcBef>
                <a:spcPts val="800"/>
              </a:spcBef>
            </a:pPr>
            <a:r>
              <a:rPr sz="1400" b="0" i="0">
                <a:solidFill>
                  <a:srgbClr val="0E9AA7"/>
                </a:solidFill>
                <a:latin typeface="Calibri"/>
                <a:ea typeface="Calibri"/>
                <a:cs typeface="Calibri"/>
              </a:rPr>
              <a:t>●  </a:t>
            </a:r>
            <a:r>
              <a:rPr sz="1400" b="0" i="0">
                <a:solidFill>
                  <a:srgbClr val="1E2B3A"/>
                </a:solidFill>
                <a:latin typeface="Calibri"/>
                <a:ea typeface="Calibri"/>
                <a:cs typeface="Calibri"/>
              </a:rPr>
              <a:t>Tantalum remains the expensive fallback.</a:t>
            </a:r>
          </a:p>
          <a:p>
            <a:pPr>
              <a:spcBef>
                <a:spcPts val="800"/>
              </a:spcBef>
            </a:pPr>
            <a:r>
              <a:rPr sz="1400" b="0" i="0">
                <a:solidFill>
                  <a:srgbClr val="0E9AA7"/>
                </a:solidFill>
                <a:latin typeface="Calibri"/>
                <a:ea typeface="Calibri"/>
                <a:cs typeface="Calibri"/>
              </a:rPr>
              <a:t>●  </a:t>
            </a:r>
            <a:r>
              <a:rPr sz="1400" b="0" i="0">
                <a:solidFill>
                  <a:srgbClr val="1E2B3A"/>
                </a:solidFill>
                <a:latin typeface="Calibri"/>
                <a:ea typeface="Calibri"/>
                <a:cs typeface="Calibri"/>
              </a:rPr>
              <a:t>PTFE spiral-wound is out — code does not allow PTFE at 270 °C.</a:t>
            </a:r>
          </a:p>
          <a:p>
            <a:pPr>
              <a:spcBef>
                <a:spcPts val="800"/>
              </a:spcBef>
            </a:pPr>
            <a:r>
              <a:rPr sz="1400" b="0" i="0">
                <a:solidFill>
                  <a:srgbClr val="0E9AA7"/>
                </a:solidFill>
                <a:latin typeface="Calibri"/>
                <a:ea typeface="Calibri"/>
                <a:cs typeface="Calibri"/>
              </a:rPr>
              <a:t>●  </a:t>
            </a:r>
            <a:r>
              <a:rPr sz="1400" b="0" i="0">
                <a:solidFill>
                  <a:srgbClr val="1E2B3A"/>
                </a:solidFill>
                <a:latin typeface="Calibri"/>
                <a:ea typeface="Calibri"/>
                <a:cs typeface="Calibri"/>
              </a:rPr>
              <a:t>Keith accepts gasket damage after a 270 °C relief event.</a:t>
            </a:r>
          </a:p>
          <a:p>
            <a:pPr>
              <a:spcBef>
                <a:spcPts val="800"/>
              </a:spcBef>
            </a:pPr>
            <a:r>
              <a:rPr sz="1400" b="0" i="0">
                <a:solidFill>
                  <a:srgbClr val="0E9AA7"/>
                </a:solidFill>
                <a:latin typeface="Calibri"/>
                <a:ea typeface="Calibri"/>
                <a:cs typeface="Calibri"/>
              </a:rPr>
              <a:t>●  </a:t>
            </a:r>
            <a:r>
              <a:rPr sz="1400" b="0" i="0">
                <a:solidFill>
                  <a:srgbClr val="1E2B3A"/>
                </a:solidFill>
                <a:latin typeface="Calibri"/>
                <a:ea typeface="Calibri"/>
                <a:cs typeface="Calibri"/>
              </a:rPr>
              <a:t>The gasket must still seal during relief. A leak into the module is an ignition risk.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078992"/>
            <a:ext cx="5623560" cy="4572000"/>
          </a:xfrm>
          <a:prstGeom prst="roundRect">
            <a:avLst/>
          </a:prstGeom>
          <a:solidFill>
            <a:srgbClr val="EAF6EF"/>
          </a:solidFill>
          <a:ln w="12700">
            <a:solidFill>
              <a:srgbClr val="B7E0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234440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r>
              <a:rPr sz="1400" b="1" i="0">
                <a:solidFill>
                  <a:srgbClr val="1B7A4E"/>
                </a:solidFill>
                <a:latin typeface="Calibri"/>
                <a:ea typeface="Calibri"/>
                <a:cs typeface="Calibri"/>
              </a:rPr>
              <a:t>Vendor position now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1691640"/>
            <a:ext cx="5212080" cy="65836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691640"/>
            <a:ext cx="4937760" cy="65836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r>
              <a:rPr sz="1100" b="0" i="0">
                <a:solidFill>
                  <a:srgbClr val="5B6B7C"/>
                </a:solidFill>
                <a:latin typeface="Calibri"/>
                <a:ea typeface="Calibri"/>
                <a:cs typeface="Calibri"/>
              </a:rPr>
              <a:t>Gasket hardness</a:t>
            </a:r>
          </a:p>
          <a:p>
            <a:r>
              <a:rPr sz="1500" b="1" i="0">
                <a:solidFill>
                  <a:srgbClr val="00366A"/>
                </a:solidFill>
                <a:latin typeface="Calibri"/>
                <a:ea typeface="Calibri"/>
                <a:cs typeface="Calibri"/>
              </a:rPr>
              <a:t>&lt; 150 HB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2423160"/>
            <a:ext cx="5212080" cy="65836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2423160"/>
            <a:ext cx="4937760" cy="65836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r>
              <a:rPr sz="1100" b="0" i="0">
                <a:solidFill>
                  <a:srgbClr val="5B6B7C"/>
                </a:solidFill>
                <a:latin typeface="Calibri"/>
                <a:ea typeface="Calibri"/>
                <a:cs typeface="Calibri"/>
              </a:rPr>
              <a:t>Pipe-flange hardness</a:t>
            </a:r>
          </a:p>
          <a:p>
            <a:r>
              <a:rPr sz="1500" b="1" i="0">
                <a:solidFill>
                  <a:srgbClr val="00366A"/>
                </a:solidFill>
                <a:latin typeface="Calibri"/>
                <a:ea typeface="Calibri"/>
                <a:cs typeface="Calibri"/>
              </a:rPr>
              <a:t>&gt; 160 HB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3154680"/>
            <a:ext cx="5212080" cy="65836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3154680"/>
            <a:ext cx="4937760" cy="65836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r>
              <a:rPr sz="1100" b="0" i="0">
                <a:solidFill>
                  <a:srgbClr val="5B6B7C"/>
                </a:solidFill>
                <a:latin typeface="Calibri"/>
                <a:ea typeface="Calibri"/>
                <a:cs typeface="Calibri"/>
              </a:rPr>
              <a:t>Evidence</a:t>
            </a:r>
          </a:p>
          <a:p>
            <a:r>
              <a:rPr sz="1500" b="1" i="0">
                <a:solidFill>
                  <a:srgbClr val="00366A"/>
                </a:solidFill>
                <a:latin typeface="Calibri"/>
                <a:ea typeface="Calibri"/>
                <a:cs typeface="Calibri"/>
              </a:rPr>
              <a:t>Hardness test report for gasket and flange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3886200"/>
            <a:ext cx="5212080" cy="65836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3886200"/>
            <a:ext cx="4937760" cy="65836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r>
              <a:rPr sz="1100" b="0" i="0">
                <a:solidFill>
                  <a:srgbClr val="5B6B7C"/>
                </a:solidFill>
                <a:latin typeface="Calibri"/>
                <a:ea typeface="Calibri"/>
                <a:cs typeface="Calibri"/>
              </a:rPr>
              <a:t>Check</a:t>
            </a:r>
          </a:p>
          <a:p>
            <a:r>
              <a:rPr sz="1500" b="1" i="0">
                <a:solidFill>
                  <a:srgbClr val="00366A"/>
                </a:solidFill>
                <a:latin typeface="Calibri"/>
                <a:ea typeface="Calibri"/>
                <a:cs typeface="Calibri"/>
              </a:rPr>
              <a:t>Equipment vendor re-inspects before assembly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5080" y="4617720"/>
            <a:ext cx="5212080" cy="65836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4617720"/>
            <a:ext cx="4937760" cy="65836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r>
              <a:rPr sz="1100" b="0" i="0">
                <a:solidFill>
                  <a:srgbClr val="5B6B7C"/>
                </a:solidFill>
                <a:latin typeface="Calibri"/>
                <a:ea typeface="Calibri"/>
                <a:cs typeface="Calibri"/>
              </a:rPr>
              <a:t>Scope</a:t>
            </a:r>
          </a:p>
          <a:p>
            <a:r>
              <a:rPr sz="1500" b="1" i="0">
                <a:solidFill>
                  <a:srgbClr val="00366A"/>
                </a:solidFill>
                <a:latin typeface="Calibri"/>
                <a:ea typeface="Calibri"/>
                <a:cs typeface="Calibri"/>
              </a:rPr>
              <a:t>Vessel joints and piping gaskets from one supplier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1480" y="6016752"/>
            <a:ext cx="11338560" cy="530352"/>
          </a:xfrm>
          <a:prstGeom prst="roundRect">
            <a:avLst/>
          </a:prstGeom>
          <a:solidFill>
            <a:srgbClr val="0036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6016752"/>
            <a:ext cx="10972800" cy="53035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r>
              <a:rPr sz="1300" b="1" i="0">
                <a:solidFill>
                  <a:srgbClr val="FDE68A"/>
                </a:solidFill>
                <a:latin typeface="Calibri"/>
                <a:ea typeface="Calibri"/>
                <a:cs typeface="Calibri"/>
              </a:rPr>
              <a:t>ASK   </a:t>
            </a:r>
            <a:r>
              <a:rPr sz="14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Please confirm SW accepts this hardness specification and single-vendor scope.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036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6656832"/>
            <a:ext cx="7498079" cy="20116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r>
              <a:rPr sz="100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Asymchem  ·  Sandwich continuous hydrogenation  ·  Discussion with Keith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09760" y="6656832"/>
            <a:ext cx="2286000" cy="20116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8 Sep 2026    03 /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36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1133856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r>
              <a:rPr sz="1200" b="1" i="0">
                <a:solidFill>
                  <a:srgbClr val="00366A"/>
                </a:solidFill>
                <a:latin typeface="Calibri"/>
                <a:ea typeface="Calibri"/>
                <a:cs typeface="Calibri"/>
              </a:rPr>
              <a:t>02  ·  DISCUSS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38912"/>
            <a:ext cx="11338560" cy="43891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r>
              <a:rPr sz="2600" b="1" i="0">
                <a:solidFill>
                  <a:srgbClr val="00366A"/>
                </a:solidFill>
                <a:latin typeface="Calibri"/>
                <a:ea typeface="Calibri"/>
                <a:cs typeface="Calibri"/>
              </a:rPr>
              <a:t>3D layout — close what we can online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097280"/>
            <a:ext cx="3657600" cy="4572000"/>
          </a:xfrm>
          <a:prstGeom prst="roundRect">
            <a:avLst/>
          </a:prstGeom>
          <a:solidFill>
            <a:srgbClr val="E7F6F7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097280"/>
            <a:ext cx="3657600" cy="91440"/>
          </a:xfrm>
          <a:prstGeom prst="rect">
            <a:avLst/>
          </a:prstGeom>
          <a:solidFill>
            <a:srgbClr val="0E9A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1325880"/>
            <a:ext cx="3255264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r>
              <a:rPr sz="1800" b="1" i="0">
                <a:solidFill>
                  <a:srgbClr val="00366A"/>
                </a:solidFill>
                <a:latin typeface="Calibri"/>
                <a:ea typeface="Calibri"/>
                <a:cs typeface="Calibri"/>
              </a:rPr>
              <a:t>Three-cavity draft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2011680"/>
            <a:ext cx="3255264" cy="15544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r>
              <a:rPr sz="1100" b="1" i="0">
                <a:solidFill>
                  <a:srgbClr val="0E9AA7"/>
                </a:solidFill>
                <a:latin typeface="Calibri"/>
                <a:ea typeface="Calibri"/>
                <a:cs typeface="Calibri"/>
              </a:rPr>
              <a:t>WHERE WE ARE</a:t>
            </a:r>
          </a:p>
          <a:p>
            <a:pPr>
              <a:spcBef>
                <a:spcPts val="600"/>
              </a:spcBef>
            </a:pPr>
            <a:r>
              <a:rPr sz="1400" b="0" i="0">
                <a:solidFill>
                  <a:srgbClr val="1E2B3A"/>
                </a:solidFill>
                <a:latin typeface="Calibri"/>
                <a:ea typeface="Calibri"/>
                <a:cs typeface="Calibri"/>
              </a:rPr>
              <a:t>We have drawn a layout from Keith’s three-cavity / split-module idea.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3703320"/>
            <a:ext cx="3255264" cy="18288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r>
              <a:rPr sz="1100" b="1" i="0">
                <a:solidFill>
                  <a:srgbClr val="0E9AA7"/>
                </a:solidFill>
                <a:latin typeface="Calibri"/>
                <a:ea typeface="Calibri"/>
                <a:cs typeface="Calibri"/>
              </a:rPr>
              <a:t>TODAY</a:t>
            </a:r>
          </a:p>
          <a:p>
            <a:pPr>
              <a:spcBef>
                <a:spcPts val="600"/>
              </a:spcBef>
            </a:pPr>
            <a:r>
              <a:rPr sz="1400" b="0" i="0">
                <a:solidFill>
                  <a:srgbClr val="1E2B3A"/>
                </a:solidFill>
                <a:latin typeface="Calibri"/>
                <a:ea typeface="Calibri"/>
                <a:cs typeface="Calibri"/>
              </a:rPr>
              <a:t>Walk the draft today. Agree what is acceptable so the site week is not used to rediscover the same points.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0" y="1097280"/>
            <a:ext cx="3657600" cy="4572000"/>
          </a:xfrm>
          <a:prstGeom prst="roundRect">
            <a:avLst/>
          </a:prstGeom>
          <a:solidFill>
            <a:srgbClr val="FFF6E8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06240" y="1097280"/>
            <a:ext cx="3657600" cy="9144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07408" y="1325880"/>
            <a:ext cx="3255264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r>
              <a:rPr sz="1800" b="1" i="0">
                <a:solidFill>
                  <a:srgbClr val="00366A"/>
                </a:solidFill>
                <a:latin typeface="Calibri"/>
                <a:ea typeface="Calibri"/>
                <a:cs typeface="Calibri"/>
              </a:rPr>
              <a:t>Overall height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07408" y="2011680"/>
            <a:ext cx="3255264" cy="15544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r>
              <a:rPr sz="1100" b="1" i="0">
                <a:solidFill>
                  <a:srgbClr val="B45309"/>
                </a:solidFill>
                <a:latin typeface="Calibri"/>
                <a:ea typeface="Calibri"/>
                <a:cs typeface="Calibri"/>
              </a:rPr>
              <a:t>WHERE WE ARE</a:t>
            </a:r>
          </a:p>
          <a:p>
            <a:pPr>
              <a:spcBef>
                <a:spcPts val="600"/>
              </a:spcBef>
            </a:pPr>
            <a:r>
              <a:rPr sz="1400" b="0" i="0">
                <a:solidFill>
                  <a:srgbClr val="1E2B3A"/>
                </a:solidFill>
                <a:latin typeface="Calibri"/>
                <a:ea typeface="Calibri"/>
                <a:cs typeface="Calibri"/>
              </a:rPr>
              <a:t>The skid height has already been reduced on our side.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07408" y="3703320"/>
            <a:ext cx="3255264" cy="18288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r>
              <a:rPr sz="1100" b="1" i="0">
                <a:solidFill>
                  <a:srgbClr val="B45309"/>
                </a:solidFill>
                <a:latin typeface="Calibri"/>
                <a:ea typeface="Calibri"/>
                <a:cs typeface="Calibri"/>
              </a:rPr>
              <a:t>TODAY</a:t>
            </a:r>
          </a:p>
          <a:p>
            <a:pPr>
              <a:spcBef>
                <a:spcPts val="600"/>
              </a:spcBef>
            </a:pPr>
            <a:r>
              <a:rPr sz="1400" b="0" i="0">
                <a:solidFill>
                  <a:srgbClr val="1E2B3A"/>
                </a:solidFill>
                <a:latin typeface="Calibri"/>
                <a:ea typeface="Calibri"/>
                <a:cs typeface="Calibri"/>
              </a:rPr>
              <a:t>Confirm the remaining height envelope with the split-module and goods-lift constraints.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1097280"/>
            <a:ext cx="3657600" cy="4572000"/>
          </a:xfrm>
          <a:prstGeom prst="roundRect">
            <a:avLst/>
          </a:prstGeom>
          <a:solidFill>
            <a:srgbClr val="FDECEC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01000" y="1097280"/>
            <a:ext cx="3657600" cy="91440"/>
          </a:xfrm>
          <a:prstGeom prst="rect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02168" y="1325880"/>
            <a:ext cx="3255264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r>
              <a:rPr sz="1800" b="1" i="0">
                <a:solidFill>
                  <a:srgbClr val="00366A"/>
                </a:solidFill>
                <a:latin typeface="Calibri"/>
                <a:ea typeface="Calibri"/>
                <a:cs typeface="Calibri"/>
              </a:rPr>
              <a:t>Control panel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02168" y="2011680"/>
            <a:ext cx="3255264" cy="15544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r>
              <a:rPr sz="1100" b="1" i="0">
                <a:solidFill>
                  <a:srgbClr val="B42318"/>
                </a:solidFill>
                <a:latin typeface="Calibri"/>
                <a:ea typeface="Calibri"/>
                <a:cs typeface="Calibri"/>
              </a:rPr>
              <a:t>WHERE WE ARE</a:t>
            </a:r>
          </a:p>
          <a:p>
            <a:pPr>
              <a:spcBef>
                <a:spcPts val="600"/>
              </a:spcBef>
            </a:pPr>
            <a:r>
              <a:rPr sz="1400" b="0" i="0">
                <a:solidFill>
                  <a:srgbClr val="1E2B3A"/>
                </a:solidFill>
                <a:latin typeface="Calibri"/>
                <a:ea typeface="Calibri"/>
                <a:cs typeface="Calibri"/>
              </a:rPr>
              <a:t>Still the hard item: shower clash, ATEX split, cabling, and whether the panel can hinge or ship loose.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02168" y="3703320"/>
            <a:ext cx="3255264" cy="18288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r>
              <a:rPr sz="1100" b="1" i="0">
                <a:solidFill>
                  <a:srgbClr val="B42318"/>
                </a:solidFill>
                <a:latin typeface="Calibri"/>
                <a:ea typeface="Calibri"/>
                <a:cs typeface="Calibri"/>
              </a:rPr>
              <a:t>TODAY</a:t>
            </a:r>
          </a:p>
          <a:p>
            <a:pPr>
              <a:spcBef>
                <a:spcPts val="600"/>
              </a:spcBef>
            </a:pPr>
            <a:r>
              <a:rPr sz="1400" b="0" i="0">
                <a:solidFill>
                  <a:srgbClr val="1E2B3A"/>
                </a:solidFill>
                <a:latin typeface="Calibri"/>
                <a:ea typeface="Calibri"/>
                <a:cs typeface="Calibri"/>
              </a:rPr>
              <a:t>Need Keith’s instrument-to-module list before the cabinet can be frozen.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1480" y="6016752"/>
            <a:ext cx="11338560" cy="530352"/>
          </a:xfrm>
          <a:prstGeom prst="roundRect">
            <a:avLst/>
          </a:prstGeom>
          <a:solidFill>
            <a:srgbClr val="0036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6016752"/>
            <a:ext cx="10972800" cy="53035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r>
              <a:rPr sz="1300" b="1" i="0">
                <a:solidFill>
                  <a:srgbClr val="FDE68A"/>
                </a:solidFill>
                <a:latin typeface="Calibri"/>
                <a:ea typeface="Calibri"/>
                <a:cs typeface="Calibri"/>
              </a:rPr>
              <a:t>ASK   </a:t>
            </a:r>
            <a:r>
              <a:rPr sz="14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Review the three-cavity draft now. Leave only items that truly need the Sandwich room.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036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6656832"/>
            <a:ext cx="7498079" cy="20116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r>
              <a:rPr sz="100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Asymchem  ·  Sandwich continuous hydrogenation  ·  Discussion with Keith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09760" y="6656832"/>
            <a:ext cx="2286000" cy="20116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8 Sep 2026    04 / 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1133856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r>
              <a:rPr sz="1200" b="1" i="0">
                <a:solidFill>
                  <a:srgbClr val="B42318"/>
                </a:solidFill>
                <a:latin typeface="Calibri"/>
                <a:ea typeface="Calibri"/>
                <a:cs typeface="Calibri"/>
              </a:rPr>
              <a:t>03  ·  DECIDE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38912"/>
            <a:ext cx="11338560" cy="43891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r>
              <a:rPr sz="2600" b="1" i="0">
                <a:solidFill>
                  <a:srgbClr val="00366A"/>
                </a:solidFill>
                <a:latin typeface="Calibri"/>
                <a:ea typeface="Calibri"/>
                <a:cs typeface="Calibri"/>
              </a:rPr>
              <a:t>PIC-028  ·  vapour-outlet back-pressure vs 270 °C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078992"/>
            <a:ext cx="11338560" cy="658368"/>
          </a:xfrm>
          <a:prstGeom prst="roundRect">
            <a:avLst/>
          </a:prstGeom>
          <a:solidFill>
            <a:srgbClr val="FDECEC"/>
          </a:solidFill>
          <a:ln w="12700">
            <a:solidFill>
              <a:srgbClr val="F0B4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078992"/>
            <a:ext cx="10972800" cy="65836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r>
              <a:rPr sz="1500" b="1" i="0">
                <a:solidFill>
                  <a:srgbClr val="B42318"/>
                </a:solidFill>
                <a:latin typeface="Calibri"/>
                <a:ea typeface="Calibri"/>
                <a:cs typeface="Calibri"/>
              </a:rPr>
              <a:t>New risk.  Gas–liquid separator vapour outlet.  Currently a Bronkhorst electronic back-pressure valve.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901952"/>
            <a:ext cx="3657600" cy="2999232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6072" y="2029968"/>
            <a:ext cx="3328416" cy="32918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r>
              <a:rPr sz="1400" b="1" i="0">
                <a:solidFill>
                  <a:srgbClr val="00366A"/>
                </a:solidFill>
                <a:latin typeface="Calibri"/>
                <a:ea typeface="Calibri"/>
                <a:cs typeface="Calibri"/>
              </a:rPr>
              <a:t>Duty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" y="2395728"/>
            <a:ext cx="3328416" cy="235915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spcBef>
                <a:spcPts val="0"/>
              </a:spcBef>
            </a:pPr>
            <a:r>
              <a:rPr sz="1300" b="0" i="0">
                <a:solidFill>
                  <a:srgbClr val="00366A"/>
                </a:solidFill>
                <a:latin typeface="Calibri"/>
                <a:ea typeface="Calibri"/>
                <a:cs typeface="Calibri"/>
              </a:rPr>
              <a:t>●  </a:t>
            </a:r>
            <a:r>
              <a:rPr sz="1300" b="0" i="0">
                <a:solidFill>
                  <a:srgbClr val="1E2B3A"/>
                </a:solidFill>
                <a:latin typeface="Calibri"/>
                <a:ea typeface="Calibri"/>
                <a:cs typeface="Calibri"/>
              </a:rPr>
              <a:t>Tag: PIC-028 / PCV-028 on the separator vapour line.</a:t>
            </a:r>
          </a:p>
          <a:p>
            <a:pPr>
              <a:spcBef>
                <a:spcPts val="800"/>
              </a:spcBef>
            </a:pPr>
            <a:r>
              <a:rPr sz="1300" b="0" i="0">
                <a:solidFill>
                  <a:srgbClr val="00366A"/>
                </a:solidFill>
                <a:latin typeface="Calibri"/>
                <a:ea typeface="Calibri"/>
                <a:cs typeface="Calibri"/>
              </a:rPr>
              <a:t>●  </a:t>
            </a:r>
            <a:r>
              <a:rPr sz="1300" b="0" i="0">
                <a:solidFill>
                  <a:srgbClr val="1E2B3A"/>
                </a:solidFill>
                <a:latin typeface="Calibri"/>
                <a:ea typeface="Calibri"/>
                <a:cs typeface="Calibri"/>
              </a:rPr>
              <a:t>Wide pressure range, low flow — this is why the electronic valve was chosen.</a:t>
            </a:r>
          </a:p>
          <a:p>
            <a:pPr>
              <a:spcBef>
                <a:spcPts val="800"/>
              </a:spcBef>
            </a:pPr>
            <a:r>
              <a:rPr sz="1300" b="0" i="0">
                <a:solidFill>
                  <a:srgbClr val="00366A"/>
                </a:solidFill>
                <a:latin typeface="Calibri"/>
                <a:ea typeface="Calibri"/>
                <a:cs typeface="Calibri"/>
              </a:rPr>
              <a:t>●  </a:t>
            </a:r>
            <a:r>
              <a:rPr sz="1300" b="0" i="0">
                <a:solidFill>
                  <a:srgbClr val="1E2B3A"/>
                </a:solidFill>
                <a:latin typeface="Calibri"/>
                <a:ea typeface="Calibri"/>
                <a:cs typeface="Calibri"/>
              </a:rPr>
              <a:t>System design temperature remains 270 °C after the 25 Aug discussion.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0" y="1901952"/>
            <a:ext cx="3657600" cy="2999232"/>
          </a:xfrm>
          <a:prstGeom prst="roundRect">
            <a:avLst/>
          </a:prstGeom>
          <a:solidFill>
            <a:srgbClr val="FFF6E8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70832" y="2029968"/>
            <a:ext cx="3328416" cy="32918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r>
              <a:rPr sz="1400" b="1" i="0">
                <a:solidFill>
                  <a:srgbClr val="B45309"/>
                </a:solidFill>
                <a:latin typeface="Calibri"/>
                <a:ea typeface="Calibri"/>
                <a:cs typeface="Calibri"/>
              </a:rPr>
              <a:t>What we found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70832" y="2395728"/>
            <a:ext cx="3328416" cy="235915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spcBef>
                <a:spcPts val="0"/>
              </a:spcBef>
            </a:pPr>
            <a:r>
              <a:rPr sz="1300" b="0" i="0">
                <a:solidFill>
                  <a:srgbClr val="B45309"/>
                </a:solidFill>
                <a:latin typeface="Calibri"/>
                <a:ea typeface="Calibri"/>
                <a:cs typeface="Calibri"/>
              </a:rPr>
              <a:t>●  </a:t>
            </a:r>
            <a:r>
              <a:rPr sz="1300" b="0" i="0">
                <a:solidFill>
                  <a:srgbClr val="1E2B3A"/>
                </a:solidFill>
                <a:latin typeface="Calibri"/>
                <a:ea typeface="Calibri"/>
                <a:cs typeface="Calibri"/>
              </a:rPr>
              <a:t>Bronkhorst: electronics may fail instantly at 270 °C.</a:t>
            </a:r>
          </a:p>
          <a:p>
            <a:pPr>
              <a:spcBef>
                <a:spcPts val="800"/>
              </a:spcBef>
            </a:pPr>
            <a:r>
              <a:rPr sz="1300" b="0" i="0">
                <a:solidFill>
                  <a:srgbClr val="B45309"/>
                </a:solidFill>
                <a:latin typeface="Calibri"/>
                <a:ea typeface="Calibri"/>
                <a:cs typeface="Calibri"/>
              </a:rPr>
              <a:t>●  </a:t>
            </a:r>
            <a:r>
              <a:rPr sz="1300" b="0" i="0">
                <a:solidFill>
                  <a:srgbClr val="1E2B3A"/>
                </a:solidFill>
                <a:latin typeface="Calibri"/>
                <a:ea typeface="Calibri"/>
                <a:cs typeface="Calibri"/>
              </a:rPr>
              <a:t>Pneumatic substitutes checked so far cannot cover the ΔP and the low flow together.</a:t>
            </a:r>
          </a:p>
          <a:p>
            <a:pPr>
              <a:spcBef>
                <a:spcPts val="800"/>
              </a:spcBef>
            </a:pPr>
            <a:r>
              <a:rPr sz="1300" b="0" i="0">
                <a:solidFill>
                  <a:srgbClr val="B45309"/>
                </a:solidFill>
                <a:latin typeface="Calibri"/>
                <a:ea typeface="Calibri"/>
                <a:cs typeface="Calibri"/>
              </a:rPr>
              <a:t>●  </a:t>
            </a:r>
            <a:r>
              <a:rPr sz="1300" b="0" i="0">
                <a:solidFill>
                  <a:srgbClr val="1E2B3A"/>
                </a:solidFill>
                <a:latin typeface="Calibri"/>
                <a:ea typeface="Calibri"/>
                <a:cs typeface="Calibri"/>
              </a:rPr>
              <a:t>Only one vendor asked. Procurement is expanding the list before a formal enquiry.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1901952"/>
            <a:ext cx="3657600" cy="2999232"/>
          </a:xfrm>
          <a:prstGeom prst="roundRect">
            <a:avLst/>
          </a:prstGeom>
          <a:solidFill>
            <a:srgbClr val="FDECEC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65592" y="2029968"/>
            <a:ext cx="3328416" cy="32918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r>
              <a:rPr sz="1400" b="1" i="0">
                <a:solidFill>
                  <a:srgbClr val="B42318"/>
                </a:solidFill>
                <a:latin typeface="Calibri"/>
                <a:ea typeface="Calibri"/>
                <a:cs typeface="Calibri"/>
              </a:rPr>
              <a:t>Why this is not “replace the instrument”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65592" y="2395728"/>
            <a:ext cx="3328416" cy="235915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spcBef>
                <a:spcPts val="0"/>
              </a:spcBef>
            </a:pPr>
            <a:r>
              <a:rPr sz="1300" b="0" i="0">
                <a:solidFill>
                  <a:srgbClr val="B42318"/>
                </a:solidFill>
                <a:latin typeface="Calibri"/>
                <a:ea typeface="Calibri"/>
                <a:cs typeface="Calibri"/>
              </a:rPr>
              <a:t>●  </a:t>
            </a:r>
            <a:r>
              <a:rPr sz="1300" b="0" i="0">
                <a:solidFill>
                  <a:srgbClr val="1E2B3A"/>
                </a:solidFill>
                <a:latin typeface="Calibri"/>
                <a:ea typeface="Calibri"/>
                <a:cs typeface="Calibri"/>
              </a:rPr>
              <a:t>If the valve dies in the relief case it may lose back-pressure.</a:t>
            </a:r>
          </a:p>
          <a:p>
            <a:pPr>
              <a:spcBef>
                <a:spcPts val="800"/>
              </a:spcBef>
            </a:pPr>
            <a:r>
              <a:rPr sz="1300" b="0" i="0">
                <a:solidFill>
                  <a:srgbClr val="B42318"/>
                </a:solidFill>
                <a:latin typeface="Calibri"/>
                <a:ea typeface="Calibri"/>
                <a:cs typeface="Calibri"/>
              </a:rPr>
              <a:t>●  </a:t>
            </a:r>
            <a:r>
              <a:rPr sz="1300" b="0" i="0">
                <a:solidFill>
                  <a:srgbClr val="1E2B3A"/>
                </a:solidFill>
                <a:latin typeface="Calibri"/>
                <a:ea typeface="Calibri"/>
                <a:cs typeface="Calibri"/>
              </a:rPr>
              <a:t>Inventory then dumps downstream / to vent — not a leak into the module, but not a safe silent failure either.</a:t>
            </a:r>
          </a:p>
          <a:p>
            <a:pPr>
              <a:spcBef>
                <a:spcPts val="800"/>
              </a:spcBef>
            </a:pPr>
            <a:r>
              <a:rPr sz="1300" b="0" i="0">
                <a:solidFill>
                  <a:srgbClr val="B42318"/>
                </a:solidFill>
                <a:latin typeface="Calibri"/>
                <a:ea typeface="Calibri"/>
                <a:cs typeface="Calibri"/>
              </a:rPr>
              <a:t>●  </a:t>
            </a:r>
            <a:r>
              <a:rPr sz="1300" b="0" i="0">
                <a:solidFill>
                  <a:srgbClr val="1E2B3A"/>
                </a:solidFill>
                <a:latin typeface="Calibri"/>
                <a:ea typeface="Calibri"/>
                <a:cs typeface="Calibri"/>
              </a:rPr>
              <a:t>We will not leave this as an unstated hazard.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" y="6016752"/>
            <a:ext cx="11338560" cy="530352"/>
          </a:xfrm>
          <a:prstGeom prst="roundRect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6016752"/>
            <a:ext cx="10972800" cy="530352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r>
              <a:rPr sz="1300" b="1" i="0">
                <a:solidFill>
                  <a:srgbClr val="FDE68A"/>
                </a:solidFill>
                <a:latin typeface="Calibri"/>
                <a:ea typeface="Calibri"/>
                <a:cs typeface="Calibri"/>
              </a:rPr>
              <a:t>DECIDE   </a:t>
            </a:r>
            <a:r>
              <a:rPr sz="14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Must this tag survive 270 °C?  If no qualified valve exists, what architecture will SW accept?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036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6656832"/>
            <a:ext cx="7498079" cy="20116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r>
              <a:rPr sz="100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Asymchem  ·  Sandwich continuous hydrogenation  ·  Discussion with Keith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09760" y="6656832"/>
            <a:ext cx="2286000" cy="20116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8 Sep 2026    05 / 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36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1133856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r>
              <a:rPr sz="1200" b="1" i="0">
                <a:solidFill>
                  <a:srgbClr val="00366A"/>
                </a:solidFill>
                <a:latin typeface="Calibri"/>
                <a:ea typeface="Calibri"/>
                <a:cs typeface="Calibri"/>
              </a:rPr>
              <a:t>04  ·  CLARIFY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38912"/>
            <a:ext cx="11338560" cy="43891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r>
              <a:rPr sz="2600" b="1" i="0">
                <a:solidFill>
                  <a:srgbClr val="00366A"/>
                </a:solidFill>
                <a:latin typeface="Calibri"/>
                <a:ea typeface="Calibri"/>
                <a:cs typeface="Calibri"/>
              </a:rPr>
              <a:t>Relief-valve size if the reactor moves to DN50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097280"/>
            <a:ext cx="7452360" cy="470916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704088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r>
              <a:rPr sz="1400" b="1" i="0">
                <a:solidFill>
                  <a:srgbClr val="00366A"/>
                </a:solidFill>
                <a:latin typeface="Calibri"/>
                <a:ea typeface="Calibri"/>
                <a:cs typeface="Calibri"/>
              </a:rPr>
              <a:t>Working assumption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83080"/>
            <a:ext cx="7040880" cy="374903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spcBef>
                <a:spcPts val="0"/>
              </a:spcBef>
            </a:pPr>
            <a:r>
              <a:rPr sz="1500" b="0" i="0">
                <a:solidFill>
                  <a:srgbClr val="B45309"/>
                </a:solidFill>
                <a:latin typeface="Calibri"/>
                <a:ea typeface="Calibri"/>
                <a:cs typeface="Calibri"/>
              </a:rPr>
              <a:t>●  </a:t>
            </a:r>
            <a:r>
              <a:rPr sz="1500" b="0" i="0">
                <a:solidFill>
                  <a:srgbClr val="1E2B3A"/>
                </a:solidFill>
                <a:latin typeface="Calibri"/>
                <a:ea typeface="Calibri"/>
                <a:cs typeface="Calibri"/>
              </a:rPr>
              <a:t>Reactor path: DN80 is dropped. Working case is DN65. DN50 is the backup if the September trial requires it.</a:t>
            </a:r>
          </a:p>
          <a:p>
            <a:pPr>
              <a:spcBef>
                <a:spcPts val="1000"/>
              </a:spcBef>
            </a:pPr>
            <a:r>
              <a:rPr sz="1500" b="0" i="0">
                <a:solidFill>
                  <a:srgbClr val="B45309"/>
                </a:solidFill>
                <a:latin typeface="Calibri"/>
                <a:ea typeface="Calibri"/>
                <a:cs typeface="Calibri"/>
              </a:rPr>
              <a:t>●  </a:t>
            </a:r>
            <a:r>
              <a:rPr sz="1500" b="0" i="0">
                <a:solidFill>
                  <a:srgbClr val="1E2B3A"/>
                </a:solidFill>
                <a:latin typeface="Calibri"/>
                <a:ea typeface="Calibri"/>
                <a:cs typeface="Calibri"/>
              </a:rPr>
              <a:t>R&amp;D trial on a DN65 column is now expected from about 18 Sep, with data by end of September.</a:t>
            </a:r>
          </a:p>
          <a:p>
            <a:pPr>
              <a:spcBef>
                <a:spcPts val="1000"/>
              </a:spcBef>
            </a:pPr>
            <a:r>
              <a:rPr sz="1500" b="0" i="0">
                <a:solidFill>
                  <a:srgbClr val="B45309"/>
                </a:solidFill>
                <a:latin typeface="Calibri"/>
                <a:ea typeface="Calibri"/>
                <a:cs typeface="Calibri"/>
              </a:rPr>
              <a:t>●  </a:t>
            </a:r>
            <a:r>
              <a:rPr sz="1500" b="0" i="0">
                <a:solidFill>
                  <a:srgbClr val="1E2B3A"/>
                </a:solidFill>
                <a:latin typeface="Calibri"/>
                <a:ea typeface="Calibri"/>
                <a:cs typeface="Calibri"/>
              </a:rPr>
              <a:t>The current relief-valve selection is already the same orifice for DN80 and DN65.</a:t>
            </a:r>
          </a:p>
          <a:p>
            <a:pPr>
              <a:spcBef>
                <a:spcPts val="1000"/>
              </a:spcBef>
            </a:pPr>
            <a:r>
              <a:rPr sz="1500" b="0" i="0">
                <a:solidFill>
                  <a:srgbClr val="B45309"/>
                </a:solidFill>
                <a:latin typeface="Calibri"/>
                <a:ea typeface="Calibri"/>
                <a:cs typeface="Calibri"/>
              </a:rPr>
              <a:t>●  </a:t>
            </a:r>
            <a:r>
              <a:rPr sz="1500" b="0" i="0">
                <a:solidFill>
                  <a:srgbClr val="1E2B3A"/>
                </a:solidFill>
                <a:latin typeface="Calibri"/>
                <a:ea typeface="Calibri"/>
                <a:cs typeface="Calibri"/>
              </a:rPr>
              <a:t>A DN50 case would cut heat generation further. We would rather not re-open the PSV file unless SW requires it.</a:t>
            </a:r>
          </a:p>
          <a:p>
            <a:pPr>
              <a:spcBef>
                <a:spcPts val="1000"/>
              </a:spcBef>
            </a:pPr>
            <a:r>
              <a:rPr sz="1500" b="0" i="0">
                <a:solidFill>
                  <a:srgbClr val="B45309"/>
                </a:solidFill>
                <a:latin typeface="Calibri"/>
                <a:ea typeface="Calibri"/>
                <a:cs typeface="Calibri"/>
              </a:rPr>
              <a:t>●  </a:t>
            </a:r>
            <a:r>
              <a:rPr sz="1500" b="0" i="0">
                <a:solidFill>
                  <a:srgbClr val="1E2B3A"/>
                </a:solidFill>
                <a:latin typeface="Calibri"/>
                <a:ea typeface="Calibri"/>
                <a:cs typeface="Calibri"/>
              </a:rPr>
              <a:t>PFD and mass balance stay unchanged — only equipment datasheets move if the bore changes.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097280"/>
            <a:ext cx="3703320" cy="4709160"/>
          </a:xfrm>
          <a:prstGeom prst="roundRect">
            <a:avLst/>
          </a:prstGeom>
          <a:solidFill>
            <a:srgbClr val="FFF6E8"/>
          </a:solidFill>
          <a:ln w="12700">
            <a:solidFill>
              <a:srgbClr val="F2D1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1325880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r>
              <a:rPr sz="1400" b="1" i="0">
                <a:solidFill>
                  <a:srgbClr val="B45309"/>
                </a:solidFill>
                <a:latin typeface="Calibri"/>
                <a:ea typeface="Calibri"/>
                <a:cs typeface="Calibri"/>
              </a:rPr>
              <a:t>Please confirm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75320" y="1874519"/>
            <a:ext cx="3246120" cy="35661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spcBef>
                <a:spcPts val="0"/>
              </a:spcBef>
            </a:pPr>
            <a:r>
              <a:rPr sz="1500" b="1" i="0">
                <a:solidFill>
                  <a:srgbClr val="B45309"/>
                </a:solidFill>
                <a:latin typeface="Calibri"/>
                <a:ea typeface="Calibri"/>
                <a:cs typeface="Calibri"/>
              </a:rPr>
              <a:t>1.  </a:t>
            </a:r>
            <a:r>
              <a:rPr sz="1500" b="0" i="0">
                <a:solidFill>
                  <a:srgbClr val="1E2B3A"/>
                </a:solidFill>
                <a:latin typeface="Calibri"/>
                <a:ea typeface="Calibri"/>
                <a:cs typeface="Calibri"/>
              </a:rPr>
              <a:t>If the reactor is DN65 — keep the current PSV.</a:t>
            </a:r>
          </a:p>
          <a:p>
            <a:pPr>
              <a:spcBef>
                <a:spcPts val="1400"/>
              </a:spcBef>
            </a:pPr>
            <a:r>
              <a:rPr sz="1500" b="1" i="0">
                <a:solidFill>
                  <a:srgbClr val="B45309"/>
                </a:solidFill>
                <a:latin typeface="Calibri"/>
                <a:ea typeface="Calibri"/>
                <a:cs typeface="Calibri"/>
              </a:rPr>
              <a:t>2.  </a:t>
            </a:r>
            <a:r>
              <a:rPr sz="1500" b="0" i="0">
                <a:solidFill>
                  <a:srgbClr val="1E2B3A"/>
                </a:solidFill>
                <a:latin typeface="Calibri"/>
                <a:ea typeface="Calibri"/>
                <a:cs typeface="Calibri"/>
              </a:rPr>
              <a:t>If the reactor is DN50 — may we keep that same orifice?</a:t>
            </a:r>
          </a:p>
          <a:p>
            <a:pPr>
              <a:spcBef>
                <a:spcPts val="1400"/>
              </a:spcBef>
            </a:pPr>
            <a:r>
              <a:rPr sz="1500" b="1" i="0">
                <a:solidFill>
                  <a:srgbClr val="B45309"/>
                </a:solidFill>
                <a:latin typeface="Calibri"/>
                <a:ea typeface="Calibri"/>
                <a:cs typeface="Calibri"/>
              </a:rPr>
              <a:t>3.  </a:t>
            </a:r>
            <a:r>
              <a:rPr sz="1500" b="0" i="0">
                <a:solidFill>
                  <a:srgbClr val="1E2B3A"/>
                </a:solidFill>
                <a:latin typeface="Calibri"/>
                <a:ea typeface="Calibri"/>
                <a:cs typeface="Calibri"/>
              </a:rPr>
              <a:t>Or must the relief case be re-run before HAZOP?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036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6656832"/>
            <a:ext cx="7498079" cy="20116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r>
              <a:rPr sz="100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Asymchem  ·  Sandwich continuous hydrogenation  ·  Discussion with Keith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0" y="6656832"/>
            <a:ext cx="2286000" cy="20116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8 Sep 2026    06 /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36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11338560" cy="25603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r>
              <a:rPr sz="1200" b="1" i="0">
                <a:solidFill>
                  <a:srgbClr val="00366A"/>
                </a:solidFill>
                <a:latin typeface="Calibri"/>
                <a:ea typeface="Calibri"/>
                <a:cs typeface="Calibri"/>
              </a:rPr>
              <a:t>05  ·  CONFIRM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38912"/>
            <a:ext cx="11338560" cy="43891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r>
              <a:rPr sz="2600" b="1" i="0">
                <a:solidFill>
                  <a:srgbClr val="00366A"/>
                </a:solidFill>
                <a:latin typeface="Calibri"/>
                <a:ea typeface="Calibri"/>
                <a:cs typeface="Calibri"/>
              </a:rPr>
              <a:t>Tracker close-out, and the decisions we need today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078992"/>
            <a:ext cx="5532120" cy="3246120"/>
          </a:xfrm>
          <a:prstGeom prst="roundRect">
            <a:avLst/>
          </a:prstGeom>
          <a:solidFill>
            <a:srgbClr val="EAF6EF"/>
          </a:solidFill>
          <a:ln w="12700">
            <a:solidFill>
              <a:srgbClr val="B7E0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5074920" cy="32918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r>
              <a:rPr sz="1400" b="1" i="0">
                <a:solidFill>
                  <a:srgbClr val="1B7A4E"/>
                </a:solidFill>
                <a:latin typeface="Calibri"/>
                <a:ea typeface="Calibri"/>
                <a:cs typeface="Calibri"/>
              </a:rPr>
              <a:t>Please confirm these can close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45920"/>
            <a:ext cx="5074920" cy="24688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spcBef>
                <a:spcPts val="0"/>
              </a:spcBef>
            </a:pPr>
            <a:r>
              <a:rPr sz="1400" b="0" i="0">
                <a:solidFill>
                  <a:srgbClr val="1B7A4E"/>
                </a:solidFill>
                <a:latin typeface="Calibri"/>
                <a:ea typeface="Calibri"/>
                <a:cs typeface="Calibri"/>
              </a:rPr>
              <a:t>●  </a:t>
            </a:r>
            <a:r>
              <a:rPr sz="1400" b="0" i="0">
                <a:solidFill>
                  <a:srgbClr val="1E2B3A"/>
                </a:solidFill>
                <a:latin typeface="Calibri"/>
                <a:ea typeface="Calibri"/>
                <a:cs typeface="Calibri"/>
              </a:rPr>
              <a:t>Cleaning philosophy — our scheme is issued; remaining comments to be listed or closed.</a:t>
            </a:r>
          </a:p>
          <a:p>
            <a:pPr>
              <a:spcBef>
                <a:spcPts val="800"/>
              </a:spcBef>
            </a:pPr>
            <a:r>
              <a:rPr sz="1400" b="0" i="0">
                <a:solidFill>
                  <a:srgbClr val="1B7A4E"/>
                </a:solidFill>
                <a:latin typeface="Calibri"/>
                <a:ea typeface="Calibri"/>
                <a:cs typeface="Calibri"/>
              </a:rPr>
              <a:t>●  </a:t>
            </a:r>
            <a:r>
              <a:rPr sz="1400" b="0" i="0">
                <a:solidFill>
                  <a:srgbClr val="1E2B3A"/>
                </a:solidFill>
                <a:latin typeface="Calibri"/>
                <a:ea typeface="Calibri"/>
                <a:cs typeface="Calibri"/>
              </a:rPr>
              <a:t>Operating manual — issued; SW review still outstanding.</a:t>
            </a:r>
          </a:p>
          <a:p>
            <a:pPr>
              <a:spcBef>
                <a:spcPts val="800"/>
              </a:spcBef>
            </a:pPr>
            <a:r>
              <a:rPr sz="1400" b="0" i="0">
                <a:solidFill>
                  <a:srgbClr val="1B7A4E"/>
                </a:solidFill>
                <a:latin typeface="Calibri"/>
                <a:ea typeface="Calibri"/>
                <a:cs typeface="Calibri"/>
              </a:rPr>
              <a:t>●  </a:t>
            </a:r>
            <a:r>
              <a:rPr sz="1400" b="0" i="0">
                <a:solidFill>
                  <a:srgbClr val="1E2B3A"/>
                </a:solidFill>
                <a:latin typeface="Calibri"/>
                <a:ea typeface="Calibri"/>
                <a:cs typeface="Calibri"/>
              </a:rPr>
              <a:t>Control description — issued; SW review still outstanding.</a:t>
            </a:r>
          </a:p>
          <a:p>
            <a:pPr>
              <a:spcBef>
                <a:spcPts val="800"/>
              </a:spcBef>
            </a:pPr>
            <a:r>
              <a:rPr sz="1400" b="0" i="0">
                <a:solidFill>
                  <a:srgbClr val="1B7A4E"/>
                </a:solidFill>
                <a:latin typeface="Calibri"/>
                <a:ea typeface="Calibri"/>
                <a:cs typeface="Calibri"/>
              </a:rPr>
              <a:t>●  </a:t>
            </a:r>
            <a:r>
              <a:rPr sz="1400" b="0" i="0">
                <a:solidFill>
                  <a:srgbClr val="1E2B3A"/>
                </a:solidFill>
                <a:latin typeface="Calibri"/>
                <a:ea typeface="Calibri"/>
                <a:cs typeface="Calibri"/>
              </a:rPr>
              <a:t>We will write the replies into the tracker and ask Keith to confirm line by line.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078992"/>
            <a:ext cx="5623560" cy="3246120"/>
          </a:xfrm>
          <a:prstGeom prst="roundRect">
            <a:avLst/>
          </a:prstGeom>
          <a:solidFill>
            <a:srgbClr val="00366A"/>
          </a:solidFill>
          <a:ln w="12700">
            <a:solidFill>
              <a:srgbClr val="0036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234440"/>
            <a:ext cx="5212080" cy="32918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r>
              <a:rPr sz="1400" b="1" i="0">
                <a:solidFill>
                  <a:srgbClr val="F6C089"/>
                </a:solidFill>
                <a:latin typeface="Calibri"/>
                <a:ea typeface="Calibri"/>
                <a:cs typeface="Calibri"/>
              </a:rPr>
              <a:t>Decisions needed before we leave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1645920"/>
            <a:ext cx="5212080" cy="24688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spcBef>
                <a:spcPts val="0"/>
              </a:spcBef>
            </a:pPr>
            <a:r>
              <a:rPr sz="1400" b="1" i="0">
                <a:solidFill>
                  <a:srgbClr val="F6C089"/>
                </a:solidFill>
                <a:latin typeface="Calibri"/>
                <a:ea typeface="Calibri"/>
                <a:cs typeface="Calibri"/>
              </a:rPr>
              <a:t>1.  </a:t>
            </a:r>
            <a:r>
              <a:rPr sz="140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Accept the 316L gasket hardness spec — or say what else QA needs.</a:t>
            </a:r>
          </a:p>
          <a:p>
            <a:pPr>
              <a:spcBef>
                <a:spcPts val="800"/>
              </a:spcBef>
            </a:pPr>
            <a:r>
              <a:rPr sz="1400" b="1" i="0">
                <a:solidFill>
                  <a:srgbClr val="F6C089"/>
                </a:solidFill>
                <a:latin typeface="Calibri"/>
                <a:ea typeface="Calibri"/>
                <a:cs typeface="Calibri"/>
              </a:rPr>
              <a:t>2.  </a:t>
            </a:r>
            <a:r>
              <a:rPr sz="140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Mark the three-cavity draft: accepted / change / leave for site.</a:t>
            </a:r>
          </a:p>
          <a:p>
            <a:pPr>
              <a:spcBef>
                <a:spcPts val="800"/>
              </a:spcBef>
            </a:pPr>
            <a:r>
              <a:rPr sz="1400" b="1" i="0">
                <a:solidFill>
                  <a:srgbClr val="F6C089"/>
                </a:solidFill>
                <a:latin typeface="Calibri"/>
                <a:ea typeface="Calibri"/>
                <a:cs typeface="Calibri"/>
              </a:rPr>
              <a:t>3.  </a:t>
            </a:r>
            <a:r>
              <a:rPr sz="140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State whether PIC-028 must be rated for 270 °C.</a:t>
            </a:r>
          </a:p>
          <a:p>
            <a:pPr>
              <a:spcBef>
                <a:spcPts val="800"/>
              </a:spcBef>
            </a:pPr>
            <a:r>
              <a:rPr sz="1400" b="1" i="0">
                <a:solidFill>
                  <a:srgbClr val="F6C089"/>
                </a:solidFill>
                <a:latin typeface="Calibri"/>
                <a:ea typeface="Calibri"/>
                <a:cs typeface="Calibri"/>
              </a:rPr>
              <a:t>4.  </a:t>
            </a:r>
            <a:r>
              <a:rPr sz="140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State whether the current PSV orifice still holds at DN50.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4480560"/>
            <a:ext cx="11338560" cy="18288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617720"/>
            <a:ext cx="1088136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r>
              <a:rPr sz="1300" b="1" i="0">
                <a:solidFill>
                  <a:srgbClr val="5B6B7C"/>
                </a:solidFill>
                <a:latin typeface="Calibri"/>
                <a:ea typeface="Calibri"/>
                <a:cs typeface="Calibri"/>
              </a:rPr>
              <a:t>Not for this meeting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919472"/>
            <a:ext cx="10881360" cy="12801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r>
              <a:rPr sz="1500" b="0" i="0">
                <a:solidFill>
                  <a:srgbClr val="1E2B3A"/>
                </a:solidFill>
                <a:latin typeface="Calibri"/>
                <a:ea typeface="Calibri"/>
                <a:cs typeface="Calibri"/>
              </a:rPr>
              <a:t>PFD and mass balance stay unchanged.  Reactor size stays a September data decision (DN65 working case).  HAZOP and the Sandwich week are a separate scheduling discussion — we are targeting mid-October, subject to Keith and Claire.</a:t>
            </a:r>
          </a:p>
          <a:p>
            <a:pPr>
              <a:spcBef>
                <a:spcPts val="800"/>
              </a:spcBef>
            </a:pPr>
            <a:r>
              <a:rPr sz="1500" b="0" i="0">
                <a:solidFill>
                  <a:srgbClr val="1E2B3A"/>
                </a:solidFill>
                <a:latin typeface="Calibri"/>
                <a:ea typeface="Calibri"/>
                <a:cs typeface="Calibri"/>
              </a:rPr>
              <a:t>Please do not leave open technical points “to finish after we get home”.  If a point cannot close today, write the remaining action and the owner in the tracker before we stop.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036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6656832"/>
            <a:ext cx="7498079" cy="20116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r>
              <a:rPr sz="100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Asymchem  ·  Sandwich continuous hydrogenation  ·  Discussion with Keith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09760" y="6656832"/>
            <a:ext cx="2286000" cy="20116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r"/>
            <a:r>
              <a:rPr sz="100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8 Sep 2026    07 /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