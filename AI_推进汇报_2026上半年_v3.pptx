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7" r:id="rId17"/>
    <p:sldId id="268" r:id="rId18"/>
    <p:sldId id="269" r:id="rId19"/>
    <p:sldId id="270" r:id="rId20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上半年汇报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ctr"/>
            <a:r>
              <a:rPr sz="1500">
                <a:solidFill>
                  <a:srgbClr val="C4D5E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 · Mid-Year Review 2026</a:t>
            </a:r>
            <a:endParaRPr sz="1500">
              <a:solidFill>
                <a:srgbClr val="C4D5E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7E3D"/>
                </a:solidFill>
                <a:latin typeface="Arial" panose="020B0604020202020204"/>
              </a:rPr>
              <a:t>PART 01</a:t>
            </a:r>
            <a:endParaRPr sz="2000" b="1">
              <a:solidFill>
                <a:srgbClr val="FF7E3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Sandwich 项目管理支持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00366A"/>
                </a:solidFill>
                <a:latin typeface="微软雅黑"/>
              </a:rPr>
              <a:t>连续氢化建设项目 · 上半年推进主线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2103120" cy="1051560"/>
          </a:xfrm>
          <a:prstGeom prst="round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0366A"/>
                </a:solidFill>
                <a:latin typeface="微软雅黑"/>
              </a:rPr>
              <a:t>30+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2C3E50"/>
                </a:solidFill>
                <a:latin typeface="微软雅黑"/>
              </a:rPr>
              <a:t>关键设计议题闭环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79" y="914400"/>
            <a:ext cx="2103120" cy="1051560"/>
          </a:xfrm>
          <a:prstGeom prst="round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79" y="10058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0366A"/>
                </a:solidFill>
                <a:latin typeface="微软雅黑"/>
              </a:rPr>
              <a:t>100+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79" y="1554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2C3E50"/>
                </a:solidFill>
                <a:latin typeface="微软雅黑"/>
              </a:rPr>
              <a:t>议题双语跟踪追溯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914400"/>
            <a:ext cx="2103120" cy="1051560"/>
          </a:xfrm>
          <a:prstGeom prst="round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0058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3263A7"/>
                </a:solidFill>
                <a:latin typeface="微软雅黑"/>
              </a:rPr>
              <a:t>3 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554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2C3E50"/>
                </a:solidFill>
                <a:latin typeface="微软雅黑"/>
              </a:rPr>
              <a:t>CFCT · IEPE · SW 稳定协作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7999" y="914400"/>
            <a:ext cx="2103120" cy="1051560"/>
          </a:xfrm>
          <a:prstGeom prst="round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7999" y="10058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7E3D"/>
                </a:solidFill>
                <a:latin typeface="微软雅黑"/>
              </a:rPr>
              <a:t>92 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7999" y="155448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2C3E50"/>
                </a:solidFill>
                <a:latin typeface="微软雅黑"/>
              </a:rPr>
              <a:t>国内问题 + 英方风险合并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4884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167128"/>
            <a:ext cx="2011679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① 设计基线对齐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68880"/>
            <a:ext cx="21031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514600"/>
            <a:ext cx="1956815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PFD / P&amp;ID / URS 三大文件多轮修订至 v0.4–0.5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SE01 气液分离器方案闭环、CE-MD 认证范围确定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主要设计文件基本齐备，具备详设启动条件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79" y="214884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599" y="2167128"/>
            <a:ext cx="2011679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② 三方协作机制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79" y="2468880"/>
            <a:ext cx="21031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42032" y="2514600"/>
            <a:ext cx="1956815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建立并稳定运行中英双周技术协作机制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双语《会议纪要跟踪表》跟踪 100+ 议题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问询 · 分歧 · 变更 全过程可追溯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14884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59" y="2167128"/>
            <a:ext cx="2011679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③ 关键技术议题应对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468880"/>
            <a:ext cx="21031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2514600"/>
            <a:ext cx="1956815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超临界流体安全阀泄放计算方法论对齐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防爆区域划分（HAC）方向确定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组织国内技术团队与英方对等对话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7999" y="214884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19" y="2167128"/>
            <a:ext cx="2011679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微软雅黑"/>
              </a:rPr>
              <a:t>④ HAZOP 前对齐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7999" y="2468880"/>
            <a:ext cx="210312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1151" y="2514600"/>
            <a:ext cx="1956815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国内 33 项待澄清问题 + 英方 59 项 Risk Register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合并至统一《会议纪要跟踪表》系统闭环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• 为 HAZOP 与 DQ 决策提供风险清单基线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617720"/>
            <a:ext cx="8595360" cy="274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A89A8"/>
                </a:solidFill>
                <a:latin typeface="Arial"/>
              </a:rPr>
              <a:t>www.asymchem.com.cn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A89A8"/>
                </a:solidFill>
                <a:latin typeface="Arial"/>
              </a:rPr>
              <a:t>Stock Code: 002821.SZ / 6821.HK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A89A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00366A"/>
                </a:solidFill>
                <a:latin typeface="微软雅黑"/>
              </a:rPr>
              <a:t>连续氢化建设项目 · 阵型与产出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3E50"/>
                </a:solidFill>
                <a:latin typeface="微软雅黑"/>
              </a:rPr>
              <a:t>跨集团三方协同 · 我作为国内项目管理支持，承担对内对外的信息集散与决策推进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4206240" cy="41148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三方协作阵型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74519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366A"/>
                </a:solidFill>
                <a:latin typeface="微软雅黑"/>
              </a:rPr>
              <a:t>CFCT · 撬块交付方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93976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3263A7"/>
                </a:solidFill>
                <a:latin typeface="微软雅黑"/>
              </a:rPr>
              <a:t>赵子亮 / 范双双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95144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撬块 layout · 反应器设计 · 采购 · 组装 · CE 认证 · 运输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551176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366A"/>
                </a:solidFill>
                <a:latin typeface="微软雅黑"/>
              </a:rPr>
              <a:t>IEPE · 总体设计方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70632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3263A7"/>
                </a:solidFill>
                <a:latin typeface="微软雅黑"/>
              </a:rPr>
              <a:t>高少峰 / 胡超群 / 孟德智 / 高宇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71800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整体设计 · 控制系统 · Cable · 仪表 · 与英方对接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22783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366A"/>
                </a:solidFill>
                <a:latin typeface="微软雅黑"/>
              </a:rPr>
              <a:t>UK Sandwich · 现场需求方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47288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3263A7"/>
                </a:solidFill>
                <a:latin typeface="微软雅黑"/>
              </a:rPr>
              <a:t>Keith 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648456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URS · HAZOP · 现场对接 · 英方风险 Register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904488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366A"/>
                </a:solidFill>
                <a:latin typeface="微软雅黑"/>
              </a:rPr>
              <a:t>集团生产管理办公室 · 项目管理支持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123944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3263A7"/>
                </a:solidFill>
                <a:latin typeface="微软雅黑"/>
              </a:rPr>
              <a:t>李涛（本人）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325112"/>
            <a:ext cx="3931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跨方沟通协调 · 议题跟踪与闭环 · 汇报与决策推进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371600"/>
            <a:ext cx="4206240" cy="41148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4173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上半年阶段性产出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78308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0" y="1874519"/>
            <a:ext cx="91440" cy="82296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472" y="1874519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366A"/>
                </a:solidFill>
                <a:latin typeface="微软雅黑"/>
              </a:rPr>
              <a:t>已完成 / 基本齐备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9472" y="2112263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· PFD · P&amp;ID · URS 三大设计文件</a:t>
            </a: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· SE01 气液分离器最终方案</a:t>
            </a: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· 撬块 3D Layout 初版 · 长周期设备清单</a:t>
            </a: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· CE-MD 认证范围与合同框架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2788920"/>
            <a:ext cx="91440" cy="82296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9472" y="2788920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263A7"/>
                </a:solidFill>
                <a:latin typeface="微软雅黑"/>
              </a:rPr>
              <a:t>推进中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9472" y="3026663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· 详细设计与设备数据单更新</a:t>
            </a: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· HAZOP 前问题清单 + 风险 Register 合并跟踪</a:t>
            </a: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· 撬块采购与制造资源匹配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3703320"/>
            <a:ext cx="91440" cy="82296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19472" y="3703320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7E3D"/>
                </a:solidFill>
                <a:latin typeface="微软雅黑"/>
              </a:rPr>
              <a:t>待启动 / 下半年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9472" y="3941063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· HAZOP 正式评审 · 详设定稿</a:t>
            </a: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· 主设备采购 PO 下达 · CE 认证正式启动</a:t>
            </a: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0F2B46"/>
                </a:solidFill>
                <a:latin typeface="微软雅黑"/>
              </a:rPr>
              <a:t>· 英方现场对接与安装准备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A89A8"/>
                </a:solidFill>
                <a:latin typeface="Arial"/>
              </a:rPr>
              <a:t>www.asymchem.com.cn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A89A8"/>
                </a:solidFill>
                <a:latin typeface="Arial"/>
              </a:rPr>
              <a:t>Stock Code: 002821.SZ / 6821.HK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A89A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00366A"/>
                </a:solidFill>
                <a:latin typeface="微软雅黑"/>
              </a:rPr>
              <a:t>连续氢化建设项目 · 下半年节奏与关键里程碑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3E50"/>
                </a:solidFill>
                <a:latin typeface="微软雅黑"/>
              </a:rPr>
              <a:t>以「HAZOP 通过 → 详设定稿 → 主设备采购」为主线，锁定关键节点，为 2027 年现场开车目标铺路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274320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81328"/>
            <a:ext cx="25603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Q3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8745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263A7"/>
                </a:solidFill>
                <a:latin typeface="微软雅黑"/>
              </a:rPr>
              <a:t>详设与 HAZOP 双线推进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194560"/>
            <a:ext cx="24688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HAZOP 正式评审通过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详细设计基本定稿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长周期设备下 PO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英方风险 Register 全部闭环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22091" y="2446020"/>
            <a:ext cx="128016" cy="182880"/>
          </a:xfrm>
          <a:prstGeom prst="rightArrow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79" y="1463040"/>
            <a:ext cx="274320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481328"/>
            <a:ext cx="25603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Q4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79" y="178308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39" y="18745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263A7"/>
                </a:solidFill>
                <a:latin typeface="微软雅黑"/>
              </a:rPr>
              <a:t>采购 · CE 认证正式启动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2194560"/>
            <a:ext cx="24688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主设备 PO 下达 · 制造启动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CE-MD 认证正式启动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详设剩余问题清单闭环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现场安装准备启动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02451" y="2446020"/>
            <a:ext cx="128016" cy="182880"/>
          </a:xfrm>
          <a:prstGeom prst="rightArrow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463040"/>
            <a:ext cx="274320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9" y="1481328"/>
            <a:ext cx="25603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2027 Q1–Q3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783080"/>
            <a:ext cx="27432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8745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3263A7"/>
                </a:solidFill>
                <a:latin typeface="微软雅黑"/>
              </a:rPr>
              <a:t>组装 · FAT · 现场开车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194560"/>
            <a:ext cx="246888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撬块组装完成 · FAT 通过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运输与英方现场接收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SAT 与调试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· 现场开车与移交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840480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366A"/>
                </a:solidFill>
                <a:latin typeface="微软雅黑"/>
              </a:rPr>
              <a:t>关键成果目标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160520"/>
            <a:ext cx="2743200" cy="256032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178807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  <a:latin typeface="微软雅黑"/>
              </a:rPr>
              <a:t>短期 · Q3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416552"/>
            <a:ext cx="274320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4348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HAZOP 通过 · 详设定稿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79" y="4160520"/>
            <a:ext cx="2743200" cy="256032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4178807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  <a:latin typeface="微软雅黑"/>
              </a:rPr>
              <a:t>中期 · Q4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79" y="4416552"/>
            <a:ext cx="274320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46120" y="44348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主设备 PO · CE 认证启动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4160520"/>
            <a:ext cx="2743200" cy="2560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79" y="4178807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FFFFFF"/>
                </a:solidFill>
                <a:latin typeface="微软雅黑"/>
              </a:rPr>
              <a:t>长期 · 2027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4416552"/>
            <a:ext cx="2743200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79" y="44348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0F2B46"/>
                </a:solidFill>
                <a:latin typeface="微软雅黑"/>
              </a:rPr>
              <a:t>FAT · 现场开车与移交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A89A8"/>
                </a:solidFill>
                <a:latin typeface="Arial"/>
              </a:rPr>
              <a:t>www.asymchem.com.cn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A89A8"/>
                </a:solidFill>
                <a:latin typeface="Arial"/>
              </a:rPr>
              <a:t>Stock Code: 002821.SZ / 6821.HK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>
                <a:solidFill>
                  <a:srgbClr val="7A89A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7E3D"/>
                </a:solidFill>
                <a:latin typeface="Arial" panose="020B0604020202020204"/>
              </a:rPr>
              <a:t>PART 02</a:t>
            </a:r>
            <a:endParaRPr sz="2000" b="1">
              <a:solidFill>
                <a:srgbClr val="FF7E3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落地推进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上半年整体进展概览</a:t>
            </a:r>
            <a:endParaRPr sz="20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8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60000" rIns="60000" bIns="60000" rtlCol="0" anchor="ctr"/>
          <a:lstStyle/>
          <a:p>
            <a:pPr algn="ctr"/>
            <a:r>
              <a:rPr sz="22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大方向</a:t>
            </a:r>
            <a:endParaRPr sz="22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生产管理 AI 应用系统梳理</a:t>
            </a:r>
            <a:endParaRPr sz="9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468880" y="10515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60000" rIns="60000" bIns="60000" rtlCol="0" anchor="ctr"/>
          <a:lstStyle/>
          <a:p>
            <a:pPr algn="ctr"/>
            <a:r>
              <a:rPr sz="22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家供应商</a:t>
            </a:r>
            <a:endParaRPr sz="22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深度评估 + 会议对接</a:t>
            </a:r>
            <a:endParaRPr sz="9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63440" y="1051560"/>
            <a:ext cx="2103120" cy="105156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60000" rIns="60000" bIns="60000" rtlCol="0" anchor="ctr"/>
          <a:lstStyle/>
          <a:p>
            <a:pPr algn="ctr"/>
            <a:r>
              <a:rPr sz="22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类落地方案</a:t>
            </a:r>
            <a:endParaRPr sz="22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联合工程化推进</a:t>
            </a:r>
            <a:endParaRPr sz="9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0" y="1051560"/>
            <a:ext cx="2011680" cy="1051560"/>
          </a:xfrm>
          <a:prstGeom prst="roundRect">
            <a:avLst>
              <a:gd name="adj" fmla="val 8000"/>
            </a:avLst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60000" rIns="60000" bIns="60000" rtlCol="0" anchor="ctr"/>
          <a:lstStyle/>
          <a:p>
            <a:pPr algn="ctr"/>
            <a:r>
              <a:rPr sz="22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个重点场景</a:t>
            </a:r>
            <a:endParaRPr sz="22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300"/>
              </a:spcBef>
            </a:pPr>
            <a:r>
              <a:rPr sz="9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设备预测性维护</a:t>
            </a:r>
            <a:endParaRPr sz="9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方向系统梳理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2606040"/>
            <a:ext cx="21031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651760"/>
            <a:ext cx="1956815" cy="178307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收敛并系统梳理生产管理 6 大 AI 应用方向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编制思路方案 + 逐项落地推进方案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为集团 AI 布局提供横向蓝图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468880" y="228600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供应商评估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468880" y="2606040"/>
            <a:ext cx="21031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42032" y="2651760"/>
            <a:ext cx="1956815" cy="65976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智现未来（半导体 AI 跨域）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埃森哲（Industry X 智能资产管理）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663440" y="2286000"/>
            <a:ext cx="210312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PdM 推进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663440" y="2606040"/>
            <a:ext cx="210312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2651760"/>
            <a:ext cx="1956815" cy="102552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结合 DH1 动力站现有基础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完成和利时、信力共擎、埃森哲三方对比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主导埃森哲 PdM 会议后总结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</a:t>
            </a: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 + PoC 推进节奏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8000" y="2286000"/>
            <a:ext cx="2011680" cy="32004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跨部门协同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858000" y="2606040"/>
            <a:ext cx="20116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2651760"/>
            <a:ext cx="1865376" cy="178307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与 IT 联合输出 6 方向工程化实施方案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生产看板系统氨基酸项目功能对接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配合电算化等其他数智化重点工作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大 AI 应用方向 · 系统梳理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生产管理 6 大 AI 应用方向</a:t>
            </a:r>
            <a:endParaRPr sz="20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8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2743200" cy="36576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报告 AI 辅助撰写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417319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463039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Campaign Report / MOR / APR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数据源：MES / QMS / LIMS / SAP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底座：LLM + RAG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价值：工时节省 50-70%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0400" y="1051560"/>
            <a:ext cx="2743200" cy="36576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技术转移与放大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00400" y="1417319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1463039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R&amp;D → 中试 → 商业化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输入：R&amp;D 工艺包 + 设备规格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输出：审查清单 + 风险矩阵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价值：NPI 周期 -30%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26480" y="1051560"/>
            <a:ext cx="2743200" cy="36576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设备全生命周期 AI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26480" y="1417319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463039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含 PdM / 备件 / 验证 / 故障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5 子模块共享一个底座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关键场景：预测性维护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价值：非计划停机 -40%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4320" y="3063240"/>
            <a:ext cx="2743200" cy="36576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视觉 AI 操作合规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429000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3474720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CV + SOP 实时监测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输入：车间 CCTV 视频流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输出：违规实时告警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价值：巡检替代 30-50%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00400" y="3063240"/>
            <a:ext cx="2743200" cy="36576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AI 培训内容生成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00400" y="3429000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73552" y="3474720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SOP → 数字人 → 视频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输入：SOP 文档 + 素材库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输出：分镜脚本 + 视频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价值：制作周期 2 周 → 1 天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26480" y="3063240"/>
            <a:ext cx="2743200" cy="36576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报告 AI 起草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26480" y="3429000"/>
            <a:ext cx="27432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3474720"/>
            <a:ext cx="2596896" cy="1417319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BDCT 升级 · 预测放行</a:t>
            </a:r>
            <a:endParaRPr sz="90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数据源：LIMS + IPC + PAT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底座：多变量预测模型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价值：放行加速 + 报废预警</a:t>
            </a:r>
            <a:endParaRPr sz="8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外部合作 · 供应商深度评估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家潜在合作商深度评估</a:t>
            </a:r>
            <a:endParaRPr sz="20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8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914400"/>
            <a:ext cx="8430895" cy="698500"/>
          </a:xfrm>
          <a:prstGeom prst="rect">
            <a:avLst/>
          </a:prstGeom>
          <a:noFill/>
        </p:spPr>
        <p:txBody>
          <a:bodyPr wrap="none" lIns="0">
            <a:noAutofit/>
          </a:bodyPr>
          <a:lstStyle/>
          <a:p>
            <a:pPr algn="l"/>
            <a:r>
              <a:rPr sz="11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对智现未来（半导体 AI 跨域）与埃森哲（Industry X 智能资产管理）两家潜在合作商深度评估，输出内部评估报告</a:t>
            </a:r>
            <a:endParaRPr sz="11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5760" y="1551940"/>
            <a:ext cx="4114800" cy="45720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智现未来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2009140"/>
            <a:ext cx="41148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054860"/>
            <a:ext cx="3968496" cy="274320"/>
          </a:xfrm>
          <a:prstGeom prst="rect">
            <a:avLst/>
          </a:prstGeom>
          <a:noFill/>
        </p:spPr>
        <p:txBody>
          <a:bodyPr wrap="none" lIns="30000" tIns="20000">
            <a:spAutoFit/>
          </a:bodyPr>
          <a:lstStyle/>
          <a:p>
            <a:pPr algn="l"/>
            <a:r>
              <a:rPr sz="1100" i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半导体 AI 跨域平移</a:t>
            </a:r>
            <a:endParaRPr sz="1100" i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8912" y="2344420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半导体晶圆厂 AI 软件国产化领先者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8912" y="2911348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核心能力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FDC / RMS / APC / 技术转移 / PdM 算法体系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912" y="3478276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凯莱英适配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算法层深度突出，制药案例空白需 6-12 月跨域适配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8912" y="4045203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合作定位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算法层最深，可用作 PoC 对照方案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63440" y="1551940"/>
            <a:ext cx="4114800" cy="45720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埃森哲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63440" y="2009140"/>
            <a:ext cx="411480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2054860"/>
            <a:ext cx="3968496" cy="274320"/>
          </a:xfrm>
          <a:prstGeom prst="rect">
            <a:avLst/>
          </a:prstGeom>
          <a:noFill/>
        </p:spPr>
        <p:txBody>
          <a:bodyPr wrap="none" lIns="30000" tIns="20000">
            <a:spAutoFit/>
          </a:bodyPr>
          <a:lstStyle/>
          <a:p>
            <a:pPr algn="l"/>
            <a:r>
              <a:rPr sz="1100" i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Industry X 智能资产管理</a:t>
            </a:r>
            <a:endParaRPr sz="1100" i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36592" y="2344420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全球咨询与系统集成商 · Industry X 事业部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36592" y="2911348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核心能力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智能体协作 · 健康分 + 知识图谱 · 端到端集成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36592" y="3478276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凯莱英适配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不卖硬件不持模型，做端到端集成与变革管理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36592" y="4045203"/>
            <a:ext cx="3968496" cy="594360"/>
          </a:xfrm>
          <a:prstGeom prst="rect">
            <a:avLst/>
          </a:prstGeom>
          <a:noFill/>
        </p:spPr>
        <p:txBody>
          <a:bodyPr wrap="square" lIns="30000" tIns="0">
            <a:spAutoFit/>
          </a:bodyPr>
          <a:lstStyle/>
          <a:p>
            <a:pPr>
              <a:spcAft>
                <a:spcPts val="100"/>
              </a:spcAft>
            </a:pPr>
            <a:r>
              <a:rPr sz="900" b="1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合作定位</a:t>
            </a:r>
            <a:endParaRPr sz="900" b="1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端到端能力最完整，PdM 推进节奏清晰</a:t>
            </a:r>
            <a:endParaRPr sz="100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1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slide1_shap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347472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设备预测性维护 · 重点推进</a:t>
            </a:r>
            <a:endParaRPr sz="3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8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PdM 三方方案对比与启动准备</a:t>
            </a:r>
            <a:endParaRPr sz="20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8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4297680" cy="41148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PdM 三方方案对比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463039"/>
            <a:ext cx="42976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508760"/>
            <a:ext cx="4151376" cy="3017520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杭州和利时 · 已对接方案</a:t>
            </a:r>
            <a:endParaRPr sz="105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聚焦 DH1 动力站关键动设备 PdM，覆盖冰机、循环泵、凉水塔、真空泵、离心机等的智能监测与故障诊断</a:t>
            </a:r>
            <a:endParaRPr sz="9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安徽信力共擎 · 已对接方案</a:t>
            </a:r>
            <a:endParaRPr sz="105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关键设备智能监测方案，含硬件安装、软件调试、云平台数据分析及算法迭代</a:t>
            </a:r>
            <a:endParaRPr sz="9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3263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埃森哲 · 会议交流方案</a:t>
            </a:r>
            <a:endParaRPr sz="1050" b="1">
              <a:solidFill>
                <a:srgbClr val="3263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层架构 + 6 阶段闭环：多源信号 → 健康分 → 业务影响 → 智能体根因分析 → 处置建议 → 人工核查</a:t>
            </a:r>
            <a:endParaRPr sz="9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7E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底层：知识图谱与历史数据双向验证机制</a:t>
            </a:r>
            <a:endParaRPr sz="900" b="0">
              <a:solidFill>
                <a:srgbClr val="FF7E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0" y="1051560"/>
            <a:ext cx="4114800" cy="41148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启动前需整理 4 类信息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54880" y="1463039"/>
            <a:ext cx="41148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1508760"/>
            <a:ext cx="3968496" cy="3017520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设备清单</a:t>
            </a:r>
            <a:endParaRPr sz="11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厂区 + 设备类型 + 数量 + 关键作用 + 当前维护模式</a:t>
            </a:r>
            <a:endParaRPr sz="9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主要故障</a:t>
            </a:r>
            <a:endParaRPr sz="11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按损失 / OEE 排序 Top 5 类故障 + 频次 + 损失估算</a:t>
            </a:r>
            <a:endParaRPr sz="9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数据基础</a:t>
            </a:r>
            <a:endParaRPr sz="11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传感器清单 + 采集频次 + 历史数据时长 + 异常案例数据完整度</a:t>
            </a:r>
            <a:endParaRPr sz="9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先验知识</a:t>
            </a:r>
            <a:endParaRPr sz="11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 RCA 报告 + 偏差报告 + FTA / FMEA + 供应商技术资料</a:t>
            </a:r>
            <a:endParaRPr sz="95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r"/>
            <a:r>
              <a:rPr sz="20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下半年推进节奏与关键成果</a:t>
            </a:r>
            <a:endParaRPr sz="20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3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www.asymchem.com.cn</a:t>
            </a:r>
            <a:endParaRPr sz="75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Stock Code: 002821.SZ / 6821.HK</a:t>
            </a:r>
            <a:endParaRPr sz="7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>
                <a:solidFill>
                  <a:srgbClr val="7A89A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800" b="0">
              <a:solidFill>
                <a:srgbClr val="7A89A8"/>
              </a:solidFill>
              <a:latin typeface="Arial" panose="020B0604020202020204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4320" y="914400"/>
            <a:ext cx="8589645" cy="640080"/>
          </a:xfrm>
          <a:prstGeom prst="rect">
            <a:avLst/>
          </a:prstGeom>
          <a:noFill/>
        </p:spPr>
        <p:txBody>
          <a:bodyPr wrap="none" lIns="0" numCol="1">
            <a:noAutofit/>
          </a:bodyPr>
          <a:lstStyle/>
          <a:p>
            <a:pPr algn="l"/>
            <a:r>
              <a:rPr sz="110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以"低风险 + 高显示度"为原则推动落地，同步推动 1-2 个短周期方向 PoC，支撑集团 AI 战略下一步决策。</a:t>
            </a:r>
            <a:endParaRPr sz="110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7E3D"/>
                </a:solidFill>
                <a:latin typeface="Arial" panose="020B0604020202020204"/>
              </a:rPr>
              <a:t>第 3 季度</a:t>
            </a:r>
            <a:endParaRPr sz="1000" b="1">
              <a:solidFill>
                <a:srgbClr val="FF7E3D"/>
              </a:solidFill>
              <a:latin typeface="Arial" panose="020B060402020202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2743200" cy="1280160"/>
          </a:xfrm>
          <a:prstGeom prst="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828800"/>
            <a:ext cx="2743200" cy="5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20240"/>
            <a:ext cx="2468880" cy="92519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信息整理与方案对齐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 PdM 4 类信息内部整理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深化三方方案对比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选定 1 个起步设备类型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3044951" y="2331720"/>
            <a:ext cx="137160" cy="274320"/>
          </a:xfrm>
          <a:prstGeom prst="rightArrow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7E3D"/>
                </a:solidFill>
                <a:latin typeface="Arial" panose="020B0604020202020204"/>
              </a:rPr>
              <a:t>第 4 季度</a:t>
            </a:r>
            <a:endParaRPr sz="1000" b="1">
              <a:solidFill>
                <a:srgbClr val="FF7E3D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00400" y="1828800"/>
            <a:ext cx="2743200" cy="1280160"/>
          </a:xfrm>
          <a:prstGeom prst="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828800"/>
            <a:ext cx="2743200" cy="5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920240"/>
            <a:ext cx="2468880" cy="92519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PoC 启动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选定的 1 类设备开展概念验证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数据采集 + 算法建模 + 知识图谱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同步启动 1 个短周期方向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5971031" y="2331720"/>
            <a:ext cx="137160" cy="274320"/>
          </a:xfrm>
          <a:prstGeom prst="rightArrow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7E3D"/>
                </a:solidFill>
                <a:latin typeface="Arial" panose="020B0604020202020204"/>
              </a:rPr>
              <a:t>明年 Q1</a:t>
            </a:r>
            <a:endParaRPr sz="1000" b="1">
              <a:solidFill>
                <a:srgbClr val="FF7E3D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26480" y="1828800"/>
            <a:ext cx="2743200" cy="1280160"/>
          </a:xfrm>
          <a:prstGeom prst="rect">
            <a:avLst/>
          </a:prstGeom>
          <a:solidFill>
            <a:srgbClr val="E7EEFB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828800"/>
            <a:ext cx="2743200" cy="5000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920240"/>
            <a:ext cx="2468880" cy="92519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试点评估与推广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PoC 结果评估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决定扩展至其他设备 / 厂区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2C3E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形成集团 AI 战略实证依据</a:t>
            </a:r>
            <a:endParaRPr sz="850" b="0">
              <a:solidFill>
                <a:srgbClr val="2C3E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4320" y="338328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6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关键成果目标</a:t>
            </a:r>
            <a:endParaRPr sz="1400" b="1">
              <a:solidFill>
                <a:srgbClr val="0036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74320" y="3794760"/>
            <a:ext cx="2743200" cy="274320"/>
          </a:xfrm>
          <a:prstGeom prst="rect">
            <a:avLst/>
          </a:prstGeom>
          <a:solidFill>
            <a:srgbClr val="326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短期 · 3-4 季度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74320" y="4069080"/>
            <a:ext cx="27432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4114800"/>
            <a:ext cx="2596896" cy="44386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完成 PdM 4 类信息整理 + 三方深度对比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1-2 个短周期方向 PoC 启动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0" y="3794760"/>
            <a:ext cx="2743200" cy="274320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 · 明年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200400" y="4069080"/>
            <a:ext cx="27432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73552" y="4114800"/>
            <a:ext cx="2596896" cy="594360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PdM 起步设备 PoC 完成 + 效果评估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至少 1 个 AI 方向进入 Pilot 阶段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供应商合作策略形成明确共识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26480" y="3794760"/>
            <a:ext cx="2743200" cy="274320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000" tIns="30000" rIns="50000" bIns="30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长期方向</a:t>
            </a:r>
            <a:endParaRPr sz="1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26480" y="4069080"/>
            <a:ext cx="27432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4114800"/>
            <a:ext cx="2596896" cy="443865"/>
          </a:xfrm>
          <a:prstGeom prst="rect">
            <a:avLst/>
          </a:prstGeom>
          <a:noFill/>
        </p:spPr>
        <p:txBody>
          <a:bodyPr wrap="square" lIns="0" tIns="50000" rIns="0" bIns="5000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6 大 AI 方向按业务优先级分批落地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2B4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沉淀凯莱英自主的 AI 应用能力</a:t>
            </a:r>
            <a:endParaRPr sz="800" b="0">
              <a:solidFill>
                <a:srgbClr val="0F2B4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>
                <a:solidFill>
                  <a:srgbClr val="00366A"/>
                </a:solidFill>
                <a:latin typeface="微软雅黑"/>
              </a:rPr>
              <a:t>连续氢化建设项目 · 原计划 vs 当前计划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8595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C3E50"/>
                </a:solidFill>
                <a:latin typeface="微软雅黑"/>
              </a:rPr>
              <a:t>对比 2025-09 立项版初版计划，整体开车目标 2026-12 → 2027-09（+9 个月）；主因是业务需求扩展与深度对接 UK 工程/合规体系的必要投入</a:t>
            </a:r>
          </a:p>
        </p:txBody>
      </p:sp>
      <p:pic>
        <p:nvPicPr>
          <p:cNvPr id="5" name="Picture 4" descr="timelin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25296"/>
            <a:ext cx="8595360" cy="2423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3712463"/>
            <a:ext cx="8595360" cy="18288"/>
          </a:xfrm>
          <a:prstGeom prst="rect">
            <a:avLst/>
          </a:prstGeom>
          <a:solidFill>
            <a:srgbClr val="DC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794760"/>
            <a:ext cx="1645920" cy="292608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3813048"/>
            <a:ext cx="15361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微软雅黑"/>
              </a:rPr>
              <a:t>① 业务需求扩展 · 通用型反应器兼顾双工况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087368"/>
            <a:ext cx="1645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4142232"/>
            <a:ext cx="149961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>
                <a:solidFill>
                  <a:srgbClr val="0F2B46"/>
                </a:solidFill>
                <a:latin typeface="微软雅黑"/>
              </a:rPr>
              <a:t>英方希望撬块同时覆盖高压与低压两类加氢工艺（以 129361 项目为蓝本），反应器与安全阀需含超临界/亚临界切换与双工况互斥保护，工程复杂度显著提升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3794760"/>
            <a:ext cx="1645920" cy="292608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6544" y="3813048"/>
            <a:ext cx="15361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微软雅黑"/>
              </a:rPr>
              <a:t>② 既有厂房升级改造 · 空间与消防受限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4087368"/>
            <a:ext cx="1645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84832" y="4142232"/>
            <a:ext cx="149961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>
                <a:solidFill>
                  <a:srgbClr val="0F2B46"/>
                </a:solidFill>
                <a:latin typeface="微软雅黑"/>
              </a:rPr>
              <a:t>既有中试厂房改造，空间与中英防爆/消防规范双重受限；Buffer Tank 等设备多次调整，触发部分 HAZOP 重做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40" y="3794760"/>
            <a:ext cx="1645920" cy="292608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3904" y="3813048"/>
            <a:ext cx="15361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微软雅黑"/>
              </a:rPr>
              <a:t>③ 深度技术议题 · 中英标准细节差异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40" y="4087368"/>
            <a:ext cx="1645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22192" y="4142232"/>
            <a:ext cx="149961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>
                <a:solidFill>
                  <a:srgbClr val="0F2B46"/>
                </a:solidFill>
                <a:latin typeface="微软雅黑"/>
              </a:rPr>
              <a:t>泄放/超临界、清洗、分离器、控制与联锁等，中英思路与文档粒度不同，多项议题上升到科研级论证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3794760"/>
            <a:ext cx="1645920" cy="292608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41264" y="3813048"/>
            <a:ext cx="15361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微软雅黑"/>
              </a:rPr>
              <a:t>④ 设计交付物范围扩展 · 匹配 UK 工程文档体系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4087368"/>
            <a:ext cx="1645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59552" y="4142232"/>
            <a:ext cx="149961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>
                <a:solidFill>
                  <a:srgbClr val="0F2B46"/>
                </a:solidFill>
                <a:latin typeface="微软雅黑"/>
              </a:rPr>
              <a:t>初版 19 项主要交付项扩展至 55+ 项，新增 FDS/SDS/HDS、I/O Schedule、SIL/LOPA、Cable Schedule 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794760"/>
            <a:ext cx="1645920" cy="292608"/>
          </a:xfrm>
          <a:prstGeom prst="rect">
            <a:avLst/>
          </a:prstGeom>
          <a:solidFill>
            <a:srgbClr val="003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8624" y="3813048"/>
            <a:ext cx="15361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微软雅黑"/>
              </a:rPr>
              <a:t>⑤ HAZOP 前风险系统闭环 + CE 与 NB 排期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4087368"/>
            <a:ext cx="16459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96912" y="4142232"/>
            <a:ext cx="149961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>
                <a:solidFill>
                  <a:srgbClr val="0F2B46"/>
                </a:solidFill>
                <a:latin typeface="微软雅黑"/>
              </a:rPr>
              <a:t>92 项风险清单（33+59）系统闭环换 HAZOP 一次通过；CE-MD/PED/ATEX 与欧盟公告机构 NB 反复对齐并受排期约束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617720"/>
            <a:ext cx="8595360" cy="27432"/>
          </a:xfrm>
          <a:prstGeom prst="rect">
            <a:avLst/>
          </a:prstGeom>
          <a:solidFill>
            <a:srgbClr val="FF7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892040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7A89A8"/>
                </a:solidFill>
                <a:latin typeface="Arial"/>
              </a:rPr>
              <a:t>www.asymchem.com.cn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8920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7A89A8"/>
                </a:solidFill>
                <a:latin typeface="Arial"/>
              </a:rPr>
              <a:t>Stock Code: 002821.SZ / 6821.HK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8920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7A89A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2613</Words>
  <Application>WPS Presentation</Application>
  <PresentationFormat>On-screen Show (4:3)</PresentationFormat>
  <Paragraphs>280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李涛</cp:lastModifiedBy>
  <cp:revision>3</cp:revision>
  <dcterms:created xsi:type="dcterms:W3CDTF">2013-01-27T09:14:00Z</dcterms:created>
  <dcterms:modified xsi:type="dcterms:W3CDTF">2026-07-06T07:26:01Z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E2584967AE154B589DE853ACB8FD3ACF_12</vt:lpwstr>
  </property>
</Properties>
</file>