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SW Sandwich 连续氢化撬块 ｜ 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383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50" b="0">
                <a:solidFill>
                  <a:srgbClr val="CBD5E1"/>
                </a:solidFill>
                <a:latin typeface="Microsoft YaHei"/>
              </a:defRPr>
            </a:pPr>
            <a:r>
              <a:t>2026.07.10 研发述职 · 截至 6 月底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88952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凯莱英 UK Sandwich 中试工厂改造 ｜ 加装多用途连续氢化撬块  ·  跨国协同：IEPE 整体设计 + CFCT 撬块制造 + UK Sandwich 现场集成与 CE 认证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27703" cy="960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73152" cy="960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63040"/>
            <a:ext cx="3517391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0F3460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92808"/>
            <a:ext cx="351739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技术议题已闭环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130552"/>
            <a:ext cx="351739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覆盖 PFD / PID / URS / SE01 / CE 范围 / HAC 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0623" y="1417320"/>
            <a:ext cx="3727703" cy="9601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0623" y="141732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1463040"/>
            <a:ext cx="3517391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  <a:latin typeface="Microsoft YaHei"/>
              </a:defRPr>
            </a:pPr>
            <a:r>
              <a:t>启动 +10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5215" y="1892808"/>
            <a:ext cx="351739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三方协作机制稳定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5215" y="2130552"/>
            <a:ext cx="351739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双周技术会议 · 双语跟踪表 · 共享设计基线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5486" y="1417320"/>
            <a:ext cx="3727703" cy="9601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6" y="1417320"/>
            <a:ext cx="73152" cy="960120"/>
          </a:xfrm>
          <a:prstGeom prst="rect">
            <a:avLst/>
          </a:prstGeom>
          <a:solidFill>
            <a:srgbClr val="7C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0078" y="1463040"/>
            <a:ext cx="3517391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7C3FAA"/>
                </a:solidFill>
                <a:latin typeface="Microsoft YaHei"/>
              </a:defRPr>
            </a:pPr>
            <a:r>
              <a:t>2027/09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0078" y="1892808"/>
            <a:ext cx="351739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UK 现场开车目标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0078" y="2130552"/>
            <a:ext cx="3517391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FAT 2027/01 · CE 合同 2026/08 · 主设备 PO 2026/08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5660136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532888"/>
            <a:ext cx="5385816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✓  关键已闭环成果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013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5660136" cy="256032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三大设计文件齐备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PFD / PID / URS / I/O Schedule 三方对齐 v0.4-0.5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关键设计分歧已闭环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SE01 分离器配置 · MP01/02 流量基准 · 多处 PID 修订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CE 认证范围与路径确定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整撬走 CE-MD（含 ATEX），无需单独 LVD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国际工程协作机制成型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双周三方技术会议 · 双语 minutes tracking · 共享设计基线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2514600"/>
            <a:ext cx="5660136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2532888"/>
            <a:ext cx="5385816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▶  推进中的关键工作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2926080"/>
            <a:ext cx="566013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3017520"/>
            <a:ext cx="5660136" cy="256032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撬块详细设计 + 设计计算书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设备数据单 update · 强度计算 · 内构件设计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安全阀超临界泄放方案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行业前沿议题 · API 521 §4.4.13 路径已部分打通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主设备 PO + CE 认证合同（8 月签订目标）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反应器 / 阀门 / 仪表 三大类供应商基本锁定</a:t>
            </a:r>
          </a:p>
          <a:p>
            <a:pPr>
              <a:defRPr sz="400"/>
            </a:pPr>
          </a:p>
          <a:p>
            <a:pPr>
              <a:spcAft>
                <a:spcPts val="100"/>
              </a:spcAft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t>● UK 现场 HAC 防爆分区出图</a:t>
            </a:r>
          </a:p>
          <a:p>
            <a:pPr>
              <a:spcAft>
                <a:spcPts val="100"/>
              </a:spcAft>
              <a:defRPr sz="950" b="0">
                <a:solidFill>
                  <a:srgbClr val="475569"/>
                </a:solidFill>
                <a:latin typeface="Microsoft YaHei"/>
              </a:defRPr>
            </a:pPr>
            <a:r>
              <a:t>    SW 按当地规范主导 · CN 配合提供资料条件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23560"/>
            <a:ext cx="5660136" cy="114300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669280"/>
            <a:ext cx="53858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t>⚠  关键风险与应对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16168"/>
            <a:ext cx="5660136" cy="850392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超临界 PSV 算法 — 全行业前沿议题，UK 同行也在找专家</a:t>
            </a:r>
          </a:p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撬块强度计算 + 内构件设计 — 已纳入下周交付清单</a:t>
            </a:r>
          </a:p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进度相对原基线 +3-4 月 — 新基线节奏稳定可控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5623560"/>
            <a:ext cx="5660136" cy="1143000"/>
          </a:xfrm>
          <a:prstGeom prst="rect">
            <a:avLst/>
          </a:prstGeom>
          <a:solidFill>
            <a:srgbClr val="E8EEF6"/>
          </a:solidFill>
          <a:ln w="9525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5669280"/>
            <a:ext cx="53858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0F3460"/>
                </a:solidFill>
                <a:latin typeface="Microsoft YaHei"/>
              </a:defRPr>
            </a:pPr>
            <a:r>
              <a:t>◆  战略价值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5916168"/>
            <a:ext cx="5660136" cy="850392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系统建立 UK / 欧盟工程规范（PED / ATEX / CE-MD）实操能力</a:t>
            </a:r>
          </a:p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支撑凯莱英欧洲 CDMO 市场拓展的能力基础设施</a:t>
            </a:r>
          </a:p>
          <a:p>
            <a:pPr>
              <a:spcAft>
                <a:spcPts val="100"/>
              </a:spcAft>
              <a:defRPr sz="950" b="0">
                <a:solidFill>
                  <a:srgbClr val="1F2937"/>
                </a:solidFill>
                <a:latin typeface="Microsoft YaHei"/>
              </a:defRPr>
            </a:pPr>
            <a:r>
              <a:t>· 跨国大型协同项目管理模式 — 经验可复用到未来其它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