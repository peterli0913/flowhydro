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2563EB"/>
                </a:solidFill>
                <a:latin typeface="Segoe UI"/>
                <a:ea typeface="Microsoft YaHei"/>
              </a:rPr>
              <a:t>Overall Progress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整体推进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7007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Design package closing out — internal cross-review complete, issue to SW next Tuesday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设计文件收口，国内内部会审完成，下周二发出 SW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Cleaning philosophy · 3D layout · control philosophy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清洗方案 · 3D 布置 · 控制说明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Equipment datasheets reissued at 75 barg / CLASS 900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设备数据单按 75 barg / CLASS 900 升版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Instrument datasheets 11 Aug · operating manual first issue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仪表数据表 8/11 · 操作手册初稿本周发出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22191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Weekly technical session with SW now running — items closed live in the meeting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与 SW 建立每周技术会，跟踪条目在会上直接判定关闭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Tracker upgraded with a “Pending” state — resolved in China, awaiting SW confirmation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跟踪表新增 Pending 状态：国内已解决、待 SW 确认，进度可见性提升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21808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SW returning 3D tie-in points, mounting brackets and hydrogen detector locations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SW 将返回 3D 接入点、支架与氢气探测器位置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2026-07-29 ~ 08-11    ·    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16A34A"/>
                </a:solidFill>
                <a:latin typeface="Segoe UI"/>
                <a:ea typeface="Microsoft YaHei"/>
              </a:rPr>
              <a:t>Technical Progress &amp; Open Item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关键技术进展与待解决事项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7007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Six tracker items closed with SW this period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本期与 SW 关闭六项跟踪条目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Polishing filter blockage → bypass to separator, flushed during cleaning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精滤器堵塞泄压 → 增设旁通至分离器，清洗时一并冲洗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Differential pressure monitoring accepted for blockage detection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差压监测精度用于堵塞判断可接受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Hardwired interlocks confirmed independent of remote I/O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硬联锁确认独立于远程 I/O，直接进 PLC 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22191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SE01 cleanliness verification by residue sampling — method accepted, limits to be set by UK QA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SE01 清洁度改用取样残留分析，方法获认可，限值由 UK QA 确定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11091672" cy="1463040"/>
          </a:xfrm>
          <a:prstGeom prst="roundRect">
            <a:avLst/>
          </a:prstGeom>
          <a:solidFill>
            <a:srgbClr val="FFF8EC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07040" cy="12801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2200" b="1">
                <a:solidFill>
                  <a:srgbClr val="D97706"/>
                </a:solidFill>
                <a:latin typeface="Segoe UI"/>
                <a:ea typeface="Microsoft YaHei"/>
              </a:rPr>
              <a:t>● </a:t>
            </a:r>
            <a:r>
              <a:rPr sz="1900" b="1">
                <a:solidFill>
                  <a:srgbClr val="92400E"/>
                </a:solidFill>
                <a:latin typeface="Segoe UI"/>
                <a:ea typeface="Microsoft YaHei"/>
              </a:rPr>
              <a:t>Open — high-pressure sealing solution not yet found</a:t>
            </a:r>
          </a:p>
          <a:p>
            <a:pPr>
              <a:spcBef>
                <a:spcPts val="300"/>
              </a:spcBef>
            </a:pPr>
            <a:r>
              <a:rPr sz="1250" b="0">
                <a:solidFill>
                  <a:srgbClr val="B4763A"/>
                </a:solidFill>
                <a:latin typeface="Microsoft YaHei"/>
                <a:ea typeface="Microsoft YaHei"/>
              </a:rPr>
              <a:t>待解决：高压密封方案尚未找到（技术问题，非决策事项）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C5518"/>
                </a:solidFill>
                <a:latin typeface="Segoe UI"/>
                <a:ea typeface="Microsoft YaHei"/>
              </a:rPr>
              <a:t>270 °C relief duty with hydrogen rules out PTFE, copper, nickel and Monel; Hastelloy flange cost-prohibitive. Affects all high-pressure joints and sits on the critical path for vessel ordering. Specialist sealing suppliers being engaged on both sides.</a:t>
            </a:r>
          </a:p>
          <a:p>
            <a:r>
              <a:rPr sz="1000" b="0">
                <a:solidFill>
                  <a:srgbClr val="B4763A"/>
                </a:solidFill>
                <a:latin typeface="Microsoft YaHei"/>
                <a:ea typeface="Microsoft YaHei"/>
              </a:rPr>
              <a:t>270 ℃ 泄放工况且涉氢，排除 PTFE、铜、镍、蒙乃尔；哈氏合金法兰成本过高。影响全部高压法兰连接，处于设备下单关键路径。中英双方正在接触专业密封厂家。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2026-07-29 ~ 08-11    ·    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DC2626"/>
                </a:solidFill>
                <a:latin typeface="Segoe UI"/>
                <a:ea typeface="Microsoft YaHei"/>
              </a:rPr>
              <a:t>⚠  Decisions Needed from Leadership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需领导层决策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96012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60704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2200" b="1">
                <a:solidFill>
                  <a:srgbClr val="DC2626"/>
                </a:solidFill>
                <a:latin typeface="Segoe UI"/>
                <a:ea typeface="Microsoft YaHei"/>
              </a:rPr>
              <a:t>● </a:t>
            </a:r>
            <a:r>
              <a:rPr sz="2100" b="1">
                <a:solidFill>
                  <a:srgbClr val="991B1B"/>
                </a:solidFill>
                <a:latin typeface="Segoe UI"/>
                <a:ea typeface="Microsoft YaHei"/>
              </a:rPr>
              <a:t>Transport route — four-module split shipment vs whole-unit lift through the roof</a:t>
            </a:r>
          </a:p>
          <a:p>
            <a:pPr>
              <a:spcBef>
                <a:spcPts val="300"/>
              </a:spcBef>
            </a:pPr>
            <a:r>
              <a:rPr sz="1250" b="0">
                <a:solidFill>
                  <a:srgbClr val="B45C5C"/>
                </a:solidFill>
                <a:latin typeface="Microsoft YaHei"/>
                <a:ea typeface="Microsoft YaHei"/>
              </a:rPr>
              <a:t>运输方案：四撬块分体运输 vs 整橇经屋顶吊装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Container internal height is 2.35–2.69 m against a 3.6–3.7 m skid — it cannot ship upright; an open flat-rack takes the whole skid but is unsealed and risks corrosion, and road height also limits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集装箱内高 2.35–2.69 m，撬块最高 3.6–3.7 m，立装装不下；框架箱可装整橇但不密封、暴露易腐蚀，陆运高度同样受限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Modular route adds steelwork, disassembly, re-cabling and a repeat of IQ/OQ at Sandwich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分体方案增加钢结构支撑、拆装、重新布线，并需在 Sandwich 重做 IQ/OQ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Whole skid reuses about 90% of the FAT testing, but a new roof costs approximately £250k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整橇可复用约 90% 的 FAT 测试成果，但换屋顶费用约 25 万英镑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Reactor final size DN65 or DN50 — set on September R&amp;D test data; URS 30 kg/day at stake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反应器最终定 DN65 或 DN50，依据 9 月研发实验数据 → 关系 URS 30 kg/day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2026-07-29 ~ 08-11    ·    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0E9AA7"/>
                </a:solidFill>
                <a:latin typeface="Segoe UI"/>
                <a:ea typeface="Microsoft YaHei"/>
              </a:rPr>
              <a:t>Next Steps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Issue cleaning philosophy, 3D layout and control philosophy to SW — next Tuesday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下周二向 SW 发出清洗方案、3D 布置与控制说明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Resolve 3D interface clashes with SW — extract duct, emergency shower, low-level control panel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与 SW 解决 3D 界面冲突：穿墙排风管、紧急淋浴、低位控制柜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Import &amp; export department to confirm oversized carrier options, then table the transport comparison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协调进出口部核实超尺寸海运方案，随后提交运输方案对比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Engage specialist sealing suppliers on both sides to close the high-pressure gasket issue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中英双方接触专业密封厂家，闭合高压垫片问题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FAT — adapt the existing IQ/OQ template and obtain UK QA pre-approval to offset site testing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FAT：沿用国内 IQ/OQ 模板改制，取得 UK QA 预批以抵扣现场测试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HAZOP early September — 3D and control philosophy agreed with SW first, run once only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9 月初 HAZOP：先与 SW 谈定 3D 与控制说明，确保只做一次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2026-07-29 ~ 08-11    ·    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