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2563EB"/>
                </a:solidFill>
                <a:latin typeface="Segoe UI"/>
                <a:ea typeface="Microsoft YaHei"/>
              </a:rPr>
              <a:t>Overall Progress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整体推进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7007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Three technical sessions held with SW this period — items judged and closed live in the meeting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本期与 SW 召开三次技术会，跟踪条目在会上直接判定关闭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13 Aug — cleaning philosophy reviewed; four real gaps identified in our design rather than misunderstandings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8/13 清洗方案过审：识别出四项属于我方设计的实际缺口，而非理解偏差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18 Aug — cleaning items closed out; 3D layout and maintenance access opened up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8/18 清洗条目基本收口，3D 布置与维护可达性议题展开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25 Aug — both blue-flag tracker items closed: PFD and high-pressure gasket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8/25 跟踪表两个蓝标条目全部结论：PFD 与高压垫片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Working method agreed — exchange drawings first, settle the mechanical layout before optimising instrumentation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确立工作方式：先交换图纸对齐理解，先定机械布置、再优化仪表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Tracker closure mechanism agreed with SW — responses written into the tracker, confirmed line by line by email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与 SW 约定跟踪表关闭机制：答复写入表内、邮件逐条确认后标记关闭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21808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Cleaning philosophy, operating manual and control philosophy issued — SW review still outstanding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清洗方案、操作手册与控制说明已发出，SW 侧反馈仍未返回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2026-08-13 ~ 08-26    ·    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16A34A"/>
                </a:solidFill>
                <a:latin typeface="Segoe UI"/>
                <a:ea typeface="Microsoft YaHei"/>
              </a:rPr>
              <a:t>Technical Progress &amp; Open Items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关键技术进展与待解决事项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PFD and mass balance confirmed unchanged — the consequential re-work is avoided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PFD 与物料平衡确认不改，连带的配置调整全部免除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Residence time is variable: smaller volume, but hourly feed flow holds — so heat load and TCU duty are unchanged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停留时间可变：容积变小但每小时进料流量可不降，热负荷与 TCU 负荷均不变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Heat transfer, not volume, is the capacity bottleneck — a smaller bore may preserve or even raise throughput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限制产能的是传热而非容积，缩径可能保住甚至提高产量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Cleaning philosophy substantially closed out with SW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清洗方案与 SW 基本收口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Catalyst discharge resequenced to solvent → water → discharge water-wet catalyst — never discharge solvent-wet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催化剂卸料改为溶剂洗 → 水洗 → 卸水润催化剂，绝不卸载带溶剂的催化剂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All three spray balls changed to fixed type; high/low pressure direct connection removed from the CIP route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三台喷淋球全部改固定式；CIP 路径取消高低压直连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11091672" cy="1463040"/>
          </a:xfrm>
          <a:prstGeom prst="roundRect">
            <a:avLst/>
          </a:prstGeom>
          <a:solidFill>
            <a:srgbClr val="FFF8E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37759"/>
            <a:ext cx="10607040" cy="12801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2200" b="1">
                <a:solidFill>
                  <a:srgbClr val="D97706"/>
                </a:solidFill>
                <a:latin typeface="Segoe UI"/>
                <a:ea typeface="Microsoft YaHei"/>
              </a:rPr>
              <a:t>● </a:t>
            </a:r>
            <a:r>
              <a:rPr sz="1900" b="1">
                <a:solidFill>
                  <a:srgbClr val="92400E"/>
                </a:solidFill>
                <a:latin typeface="Segoe UI"/>
                <a:ea typeface="Microsoft YaHei"/>
              </a:rPr>
              <a:t>Open — high-pressure gasket route defined, not yet closed</a:t>
            </a:r>
          </a:p>
          <a:p>
            <a:pPr>
              <a:spcBef>
                <a:spcPts val="300"/>
              </a:spcBef>
            </a:pPr>
            <a:r>
              <a:rPr sz="1250" b="0">
                <a:solidFill>
                  <a:srgbClr val="B4763A"/>
                </a:solidFill>
                <a:latin typeface="Microsoft YaHei"/>
                <a:ea typeface="Microsoft YaHei"/>
              </a:rPr>
              <a:t>待解决：高压垫片路线已定，但尚未闭合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C5518"/>
                </a:solidFill>
                <a:latin typeface="Segoe UI"/>
                <a:ea typeface="Microsoft YaHei"/>
              </a:rPr>
              <a:t>Primary route is a 316L soft metal ring, with vendor evidence that hardness sits 20–30 HB below the flange; tantalum is the fallback. PTFE spiral wound is ruled out because code forbids PTFE at 270 °C. Keith accepts gasket damage during relief but requires sealing integrity throughout it — a leak into the module risks ignition.</a:t>
            </a:r>
          </a:p>
          <a:p>
            <a:r>
              <a:rPr sz="1000" b="0">
                <a:solidFill>
                  <a:srgbClr val="B4763A"/>
                </a:solidFill>
                <a:latin typeface="Microsoft YaHei"/>
                <a:ea typeface="Microsoft YaHei"/>
              </a:rPr>
              <a:t>主推 316L 软金属环，需厂家证明硬度比法兰低 20–30 HB；钽材为退路。PTFE 缠绕垫因规范不允许用于 270 ℃ 而排除。Keith 接受泄放后垫片损坏，但要求泄放全过程保持密封——漏入撬块房间即有点火风险。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2026-08-13 ~ 08-26    ·    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DC2626"/>
                </a:solidFill>
                <a:latin typeface="Segoe UI"/>
                <a:ea typeface="Microsoft YaHei"/>
              </a:rPr>
              <a:t>⚠  Decisions Needed from Leadership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需领导层决策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96012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60704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2200" b="1">
                <a:solidFill>
                  <a:srgbClr val="DC2626"/>
                </a:solidFill>
                <a:latin typeface="Segoe UI"/>
                <a:ea typeface="Microsoft YaHei"/>
              </a:rPr>
              <a:t>● </a:t>
            </a:r>
            <a:r>
              <a:rPr sz="2100" b="1">
                <a:solidFill>
                  <a:srgbClr val="991B1B"/>
                </a:solidFill>
                <a:latin typeface="Segoe UI"/>
                <a:ea typeface="Microsoft YaHei"/>
              </a:rPr>
              <a:t>Maintenance access — the skid cannot be widened, so the route to maintainability must be chosen</a:t>
            </a:r>
          </a:p>
          <a:p>
            <a:pPr>
              <a:spcBef>
                <a:spcPts val="300"/>
              </a:spcBef>
            </a:pPr>
            <a:r>
              <a:rPr sz="1250" b="0">
                <a:solidFill>
                  <a:srgbClr val="B45C5C"/>
                </a:solidFill>
                <a:latin typeface="Microsoft YaHei"/>
                <a:ea typeface="Microsoft YaHei"/>
              </a:rPr>
              <a:t>维护可达性：撬块无法加宽，实现可维护的路径需要定向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Keith has ruled out widening — the skid abuts the stairwell and the second-floor stair carries fire escape requirements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Keith 明确不能加宽：撬块紧贴楼梯井，二层楼梯另有消防要求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Two competing philosophies: keep the central walkway so people can get in, or drop it and rely on a removable module plus remote calibration — this sets the site disassembly workload and the SAT scope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两种路径对立：留中间通道让人进得去，或取消通道改为可移出模块 + 远程标定——直接决定现场拆装工程量与 SAT 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Gasket cost escalation — if the 316L route fails, tantalum needs a budget application, and the scope covers instrument and short connections, not vessels alone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垫片成本上升风险：316L 方案走不通则需申请钽材预算，且范围不止设备本体，还含仪表接口与短接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Reactor fixed at DN65 as the practical middle value — height limits rule out DN50; capacity risk against URS 30 kg/day is retained pending the September trial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反应器取 DN65 作为折中值——高度受限使 DN50 不可行；对 URS 30 kg/day 的产能风险保留，待 9 月试生产验证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2026-08-13 ~ 08-26    ·    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0E9AA7"/>
                </a:solidFill>
                <a:latin typeface="Segoe UI"/>
                <a:ea typeface="Microsoft YaHei"/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Keith to issue the layout sketch and the instrument-to-module allocation list — the precondition for sizing the control panels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Keith 出布置草图与仪表模块分配清单——核算控制柜尺寸的前置条件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Produce the two numbers that settle the layout debate — width released by the U-shape re-sequencing, and the man-days to remove the reactor module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算出定案所需的两个数：U 形重排能省多少宽度、反应器模块移出要多少工时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Obtain the gasket hardness feasibility evidence from vendors and confirm 316L for instrument and short connections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取得垫片厂家硬度可行性证明，并确认仪表接口与短接可用 316L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Close the remaining cleaning items — recirculation hydraulics, metering pump internal relief valve, and the inerting route for SE01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闭合清洗剩余条目：循环清洗水力计算、计量泵内置安全阀、SE01 惰化路径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Evaluate the height reduction that would fit the goods lift — remove the top section, ship HTF pipework loose, hinge the control panel to avoid re-cabling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评估进货梯所需的降高方案：去掉顶部一段、HTF 管道散件发运、控制柜加铰链以免重新布线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Send tracker responses to Keith for line-by-line closure this week; HAZOP early September with the 3D layout and control philosophy agreed first, run once only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本周将跟踪表答复发 Keith 逐条关闭；9 月初 HAZOP 前先谈定 3D 与控制说明，确保只做一次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2026-08-13 ~ 08-26    ·    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