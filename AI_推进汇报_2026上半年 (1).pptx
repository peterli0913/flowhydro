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347472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上半年汇报</a:t>
            </a:r>
            <a:endParaRPr sz="3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ctr"/>
            <a:r>
              <a:rPr sz="1500">
                <a:solidFill>
                  <a:srgbClr val="C4D5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· Mid-Year Review 2026</a:t>
            </a:r>
            <a:endParaRPr sz="1500">
              <a:solidFill>
                <a:srgbClr val="C4D5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8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347472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7E3D"/>
                </a:solidFill>
                <a:latin typeface="Arial" panose="020B0604020202020204"/>
              </a:rPr>
              <a:t>PART 01</a:t>
            </a:r>
            <a:endParaRPr sz="2000" b="1">
              <a:solidFill>
                <a:srgbClr val="FF7E3D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Sandwich 项目管理支持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8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347472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7E3D"/>
                </a:solidFill>
                <a:latin typeface="Arial" panose="020B0604020202020204"/>
              </a:rPr>
              <a:t>PART 02</a:t>
            </a:r>
            <a:endParaRPr sz="2000" b="1">
              <a:solidFill>
                <a:srgbClr val="FF7E3D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落地推进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8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20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上半年整体进展概览</a:t>
            </a:r>
            <a:endParaRPr sz="20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3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8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4320" y="1051560"/>
            <a:ext cx="2103120" cy="1051560"/>
          </a:xfrm>
          <a:prstGeom prst="roundRect">
            <a:avLst>
              <a:gd name="adj" fmla="val 8000"/>
            </a:avLst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60000" rIns="60000" bIns="60000" rtlCol="0" anchor="ctr"/>
          <a:lstStyle/>
          <a:p>
            <a:pPr algn="ctr"/>
            <a:r>
              <a:rPr sz="22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大方向</a:t>
            </a:r>
            <a:endParaRPr sz="22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生产管理 AI 应用系统梳理</a:t>
            </a:r>
            <a:endParaRPr sz="90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468880" y="1051560"/>
            <a:ext cx="2103120" cy="1051560"/>
          </a:xfrm>
          <a:prstGeom prst="roundRect">
            <a:avLst>
              <a:gd name="adj" fmla="val 8000"/>
            </a:avLst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60000" rIns="60000" bIns="60000" rtlCol="0" anchor="ctr"/>
          <a:lstStyle/>
          <a:p>
            <a:pPr algn="ctr"/>
            <a:r>
              <a:rPr sz="22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家供应商</a:t>
            </a:r>
            <a:endParaRPr sz="22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深度评估 + 会议对接</a:t>
            </a:r>
            <a:endParaRPr sz="90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663440" y="1051560"/>
            <a:ext cx="2103120" cy="1051560"/>
          </a:xfrm>
          <a:prstGeom prst="roundRect">
            <a:avLst>
              <a:gd name="adj" fmla="val 8000"/>
            </a:avLst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60000" rIns="60000" bIns="60000" rtlCol="0" anchor="ctr"/>
          <a:lstStyle/>
          <a:p>
            <a:pPr algn="ctr"/>
            <a:r>
              <a:rPr sz="220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类落地方案</a:t>
            </a:r>
            <a:endParaRPr sz="220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联合工程化推进</a:t>
            </a:r>
            <a:endParaRPr sz="90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0" y="1051560"/>
            <a:ext cx="2011680" cy="1051560"/>
          </a:xfrm>
          <a:prstGeom prst="roundRect">
            <a:avLst>
              <a:gd name="adj" fmla="val 8000"/>
            </a:avLst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60000" rIns="60000" bIns="60000" rtlCol="0" anchor="ctr"/>
          <a:lstStyle/>
          <a:p>
            <a:pPr algn="ctr"/>
            <a:r>
              <a:rPr sz="22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个重点场景</a:t>
            </a:r>
            <a:endParaRPr sz="22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设备预测性维护</a:t>
            </a:r>
            <a:endParaRPr sz="90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方向系统梳理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4320" y="2606040"/>
            <a:ext cx="210312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2651760"/>
            <a:ext cx="1956815" cy="1783079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收敛并系统梳理生产管理 6 大 AI 应用方向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编制思路方案 + 逐项落地推进方案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为集团 AI 布局提供横向蓝图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468880" y="228600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供应商评估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468880" y="2606040"/>
            <a:ext cx="210312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42032" y="2651760"/>
            <a:ext cx="1956815" cy="659765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智现未来（半导体 AI 跨域）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埃森哲（Industry X 智能资产管理）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663440" y="228600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PdM 推进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663440" y="2606040"/>
            <a:ext cx="210312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6592" y="2651760"/>
            <a:ext cx="1956815" cy="1025525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结合 DH1 动力站现有基础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完成和利时、信力共擎、埃森哲三方对比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主导埃森哲 PdM 会议后总结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</a:t>
            </a: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 + PoC 推进节奏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858000" y="2286000"/>
            <a:ext cx="201168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跨部门协同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858000" y="2606040"/>
            <a:ext cx="201168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31152" y="2651760"/>
            <a:ext cx="1865376" cy="1783079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与 IT 联合输出 6 方向工程化实施方案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生产看板系统氨基酸项目功能对接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配合电算化等其他数智化重点工作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347472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大 AI 应用方向 · 系统梳理</a:t>
            </a:r>
            <a:endParaRPr sz="3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8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20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生产管理 6 大 AI 应用方向</a:t>
            </a:r>
            <a:endParaRPr sz="20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3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8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2743200" cy="36576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报告 AI 辅助撰写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4320" y="1417319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463039"/>
            <a:ext cx="2596896" cy="1417319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Campaign Report / MOR / APR</a:t>
            </a:r>
            <a:endParaRPr sz="90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数据源：MES / QMS / LIMS / SAP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底座：LLM + RAG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价值：工时节省 50-70%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0400" y="1051560"/>
            <a:ext cx="2743200" cy="365760"/>
          </a:xfrm>
          <a:prstGeom prst="rect">
            <a:avLst/>
          </a:prstGeom>
          <a:solidFill>
            <a:srgbClr val="326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技术转移与放大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00400" y="1417319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3552" y="1463039"/>
            <a:ext cx="2596896" cy="1417319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R&amp;D → 中试 → 商业化</a:t>
            </a:r>
            <a:endParaRPr sz="90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输入：R&amp;D 工艺包 + 设备规格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输出：审查清单 + 风险矩阵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价值：NPI 周期 -30%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126480" y="1051560"/>
            <a:ext cx="2743200" cy="36576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设备全生命周期 AI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26480" y="1417319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1463039"/>
            <a:ext cx="2596896" cy="1417319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含 PdM / 备件 / 验证 / 故障</a:t>
            </a:r>
            <a:endParaRPr sz="90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5 子模块共享一个底座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关键场景：预测性维护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价值：非计划停机 -40%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74320" y="3063240"/>
            <a:ext cx="2743200" cy="365760"/>
          </a:xfrm>
          <a:prstGeom prst="rect">
            <a:avLst/>
          </a:prstGeom>
          <a:solidFill>
            <a:srgbClr val="326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视觉 AI 操作合规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" y="3429000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3474720"/>
            <a:ext cx="2596896" cy="1417319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CV + SOP 实时监测</a:t>
            </a:r>
            <a:endParaRPr sz="90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输入：车间 CCTV 视频流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输出：违规实时告警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价值：巡检替代 30-50%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200400" y="3063240"/>
            <a:ext cx="2743200" cy="36576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AI 培训内容生成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200400" y="3429000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73552" y="3474720"/>
            <a:ext cx="2596896" cy="1417319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SOP → 数字人 → 视频</a:t>
            </a:r>
            <a:endParaRPr sz="90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输入：SOP 文档 + 素材库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输出：分镜脚本 + 视频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价值：制作周期 2 周 → 1 天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126480" y="3063240"/>
            <a:ext cx="2743200" cy="365760"/>
          </a:xfrm>
          <a:prstGeom prst="rect">
            <a:avLst/>
          </a:prstGeom>
          <a:solidFill>
            <a:srgbClr val="326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 报告 AI 起草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126480" y="3429000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2" y="3474720"/>
            <a:ext cx="2596896" cy="1417319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BDCT 升级 · 预测放行</a:t>
            </a:r>
            <a:endParaRPr sz="90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数据源：LIMS + IPC + PAT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底座：多变量预测模型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价值：放行加速 + 报废预警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347472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外部合作 · 供应商深度评估</a:t>
            </a:r>
            <a:endParaRPr sz="3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8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20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家潜在合作商深度评估</a:t>
            </a:r>
            <a:endParaRPr sz="20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3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8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914400"/>
            <a:ext cx="8430895" cy="698500"/>
          </a:xfrm>
          <a:prstGeom prst="rect">
            <a:avLst/>
          </a:prstGeom>
          <a:noFill/>
        </p:spPr>
        <p:txBody>
          <a:bodyPr wrap="none" lIns="0">
            <a:noAutofit/>
          </a:bodyPr>
          <a:lstStyle/>
          <a:p>
            <a:pPr algn="l"/>
            <a:r>
              <a:rPr sz="110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对智现未来（半导体 AI 跨域）与埃森哲（Industry X 智能资产管理）两家潜在合作商深度评估，输出内部评估报告</a:t>
            </a:r>
            <a:endParaRPr sz="110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1551940"/>
            <a:ext cx="4114800" cy="45720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智现未来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2009140"/>
            <a:ext cx="411480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2054860"/>
            <a:ext cx="3968496" cy="274320"/>
          </a:xfrm>
          <a:prstGeom prst="rect">
            <a:avLst/>
          </a:prstGeom>
          <a:noFill/>
        </p:spPr>
        <p:txBody>
          <a:bodyPr wrap="none" lIns="30000" tIns="20000">
            <a:spAutoFit/>
          </a:bodyPr>
          <a:lstStyle/>
          <a:p>
            <a:pPr algn="l"/>
            <a:r>
              <a:rPr sz="1100" i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半导体 AI 跨域平移</a:t>
            </a:r>
            <a:endParaRPr sz="1100" i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8912" y="2344420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</a:t>
            </a:r>
            <a:endParaRPr sz="9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半导体晶圆厂 AI 软件国产化领先者</a:t>
            </a:r>
            <a:endParaRPr sz="100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8912" y="2911348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核心能力</a:t>
            </a:r>
            <a:endParaRPr sz="9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FDC / RMS / APC / 技术转移 / PdM 算法体系</a:t>
            </a:r>
            <a:endParaRPr sz="100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8912" y="3478276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凯莱英适配</a:t>
            </a:r>
            <a:endParaRPr sz="9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算法层深度突出，制药案例空白需 6-12 月跨域适配</a:t>
            </a:r>
            <a:endParaRPr sz="100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8912" y="4045203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合作定位</a:t>
            </a:r>
            <a:endParaRPr sz="9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算法层最深，可用作 PoC 对照方案</a:t>
            </a:r>
            <a:endParaRPr sz="100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663440" y="1551940"/>
            <a:ext cx="4114800" cy="457200"/>
          </a:xfrm>
          <a:prstGeom prst="rect">
            <a:avLst/>
          </a:prstGeom>
          <a:solidFill>
            <a:srgbClr val="326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埃森哲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663440" y="2009140"/>
            <a:ext cx="411480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2054860"/>
            <a:ext cx="3968496" cy="274320"/>
          </a:xfrm>
          <a:prstGeom prst="rect">
            <a:avLst/>
          </a:prstGeom>
          <a:noFill/>
        </p:spPr>
        <p:txBody>
          <a:bodyPr wrap="none" lIns="30000" tIns="20000">
            <a:spAutoFit/>
          </a:bodyPr>
          <a:lstStyle/>
          <a:p>
            <a:pPr algn="l"/>
            <a:r>
              <a:rPr sz="1100" i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Industry X 智能资产管理</a:t>
            </a:r>
            <a:endParaRPr sz="1100" i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36592" y="2344420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</a:t>
            </a:r>
            <a:endParaRPr sz="9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全球咨询与系统集成商 · Industry X 事业部</a:t>
            </a:r>
            <a:endParaRPr sz="100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736592" y="2911348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核心能力</a:t>
            </a:r>
            <a:endParaRPr sz="9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智能体协作 · 健康分 + 知识图谱 · 端到端集成</a:t>
            </a:r>
            <a:endParaRPr sz="100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36592" y="3478276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凯莱英适配</a:t>
            </a:r>
            <a:endParaRPr sz="9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不卖硬件不持模型，做端到端集成与变革管理</a:t>
            </a:r>
            <a:endParaRPr sz="100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736592" y="4045203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合作定位</a:t>
            </a:r>
            <a:endParaRPr sz="9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端到端能力最完整，PdM 推进节奏清晰</a:t>
            </a:r>
            <a:endParaRPr sz="100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347472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设备预测性维护 · 重点推进</a:t>
            </a:r>
            <a:endParaRPr sz="3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sz="8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20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PdM 三方方案对比与启动准备</a:t>
            </a:r>
            <a:endParaRPr sz="20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3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8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4297680" cy="41148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PdM 三方方案对比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4320" y="1463039"/>
            <a:ext cx="42976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508760"/>
            <a:ext cx="4151376" cy="3017520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杭州和利时 · 已对接方案</a:t>
            </a:r>
            <a:endParaRPr sz="105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聚焦 DH1 动力站关键动设备 PdM，覆盖冰机、循环泵、凉水塔、真空泵、离心机等的智能监测与故障诊断</a:t>
            </a:r>
            <a:endParaRPr sz="9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安徽信力共擎 · 已对接方案</a:t>
            </a:r>
            <a:endParaRPr sz="105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关键设备智能监测方案，含硬件安装、软件调试、云平台数据分析及算法迭代</a:t>
            </a:r>
            <a:endParaRPr sz="9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埃森哲 · 会议交流方案</a:t>
            </a:r>
            <a:endParaRPr sz="105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层架构 + 6 阶段闭环：多源信号 → 健康分 → 业务影响 → 智能体根因分析 → 处置建议 → 人工核查</a:t>
            </a:r>
            <a:endParaRPr sz="9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底层：知识图谱与历史数据双向验证机制</a:t>
            </a:r>
            <a:endParaRPr sz="900" b="0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1051560"/>
            <a:ext cx="4114800" cy="41148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启动前需整理 4 类信息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54880" y="1463039"/>
            <a:ext cx="41148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8032" y="1508760"/>
            <a:ext cx="3968496" cy="3017520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设备清单</a:t>
            </a:r>
            <a:endParaRPr sz="11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厂区 + 设备类型 + 数量 + 关键作用 + 当前维护模式</a:t>
            </a:r>
            <a:endParaRPr sz="9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主要故障</a:t>
            </a:r>
            <a:endParaRPr sz="11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按损失 / OEE 排序 Top 5 类故障 + 频次 + 损失估算</a:t>
            </a:r>
            <a:endParaRPr sz="9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数据基础</a:t>
            </a:r>
            <a:endParaRPr sz="11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传感器清单 + 采集频次 + 历史数据时长 + 异常案例数据完整度</a:t>
            </a:r>
            <a:endParaRPr sz="9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先验知识</a:t>
            </a:r>
            <a:endParaRPr sz="11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 RCA 报告 + 偏差报告 + FTA / FMEA + 供应商技术资料</a:t>
            </a:r>
            <a:endParaRPr sz="9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20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下半年推进节奏与关键成果</a:t>
            </a:r>
            <a:endParaRPr sz="20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3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8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914400"/>
            <a:ext cx="8589645" cy="640080"/>
          </a:xfrm>
          <a:prstGeom prst="rect">
            <a:avLst/>
          </a:prstGeom>
          <a:noFill/>
        </p:spPr>
        <p:txBody>
          <a:bodyPr wrap="none" lIns="0" numCol="1">
            <a:noAutofit/>
          </a:bodyPr>
          <a:lstStyle/>
          <a:p>
            <a:pPr algn="l"/>
            <a:r>
              <a:rPr sz="110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以"低风险 + 高显示度"为原则推动落地，同步推动 1-2 个短周期方向 PoC，支撑集团 AI 战略下一步决策。</a:t>
            </a:r>
            <a:endParaRPr sz="110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" y="1554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7E3D"/>
                </a:solidFill>
                <a:latin typeface="Arial" panose="020B0604020202020204"/>
              </a:rPr>
              <a:t>第 3 季度</a:t>
            </a:r>
            <a:endParaRPr sz="1000" b="1">
              <a:solidFill>
                <a:srgbClr val="FF7E3D"/>
              </a:solidFill>
              <a:latin typeface="Arial" panose="020B0604020202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2743200" cy="1280160"/>
          </a:xfrm>
          <a:prstGeom prst="rect">
            <a:avLst/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828800"/>
            <a:ext cx="2743200" cy="5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920240"/>
            <a:ext cx="2468880" cy="925195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信息整理与方案对齐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 PdM 4 类信息内部整理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深化三方方案对比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选定 1 个起步设备类型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3044951" y="2331720"/>
            <a:ext cx="137160" cy="274320"/>
          </a:xfrm>
          <a:prstGeom prst="rightArrow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554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7E3D"/>
                </a:solidFill>
                <a:latin typeface="Arial" panose="020B0604020202020204"/>
              </a:rPr>
              <a:t>第 4 季度</a:t>
            </a:r>
            <a:endParaRPr sz="1000" b="1">
              <a:solidFill>
                <a:srgbClr val="FF7E3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00400" y="1828800"/>
            <a:ext cx="2743200" cy="1280160"/>
          </a:xfrm>
          <a:prstGeom prst="rect">
            <a:avLst/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1828800"/>
            <a:ext cx="2743200" cy="5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920240"/>
            <a:ext cx="2468880" cy="925195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PoC 启动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选定的 1 类设备开展概念验证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数据采集 + 算法建模 + 知识图谱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同步启动 1 个短周期方向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5971031" y="2331720"/>
            <a:ext cx="137160" cy="274320"/>
          </a:xfrm>
          <a:prstGeom prst="rightArrow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554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7E3D"/>
                </a:solidFill>
                <a:latin typeface="Arial" panose="020B0604020202020204"/>
              </a:rPr>
              <a:t>明年 Q1</a:t>
            </a:r>
            <a:endParaRPr sz="1000" b="1">
              <a:solidFill>
                <a:srgbClr val="FF7E3D"/>
              </a:solidFill>
              <a:latin typeface="Arial" panose="020B060402020202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26480" y="1828800"/>
            <a:ext cx="2743200" cy="1280160"/>
          </a:xfrm>
          <a:prstGeom prst="rect">
            <a:avLst/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828800"/>
            <a:ext cx="2743200" cy="5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920240"/>
            <a:ext cx="2468880" cy="925195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试点评估与推广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PoC 结果评估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决定扩展至其他设备 / 厂区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形成集团 AI 战略实证依据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4320" y="338328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关键成果目标</a:t>
            </a:r>
            <a:endParaRPr sz="14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74320" y="3794760"/>
            <a:ext cx="2743200" cy="274320"/>
          </a:xfrm>
          <a:prstGeom prst="rect">
            <a:avLst/>
          </a:prstGeom>
          <a:solidFill>
            <a:srgbClr val="326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短期 · 3-4 季度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74320" y="4069080"/>
            <a:ext cx="27432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4114800"/>
            <a:ext cx="2596896" cy="443865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完成 PdM 4 类信息整理 + 三方深度对比</a:t>
            </a:r>
            <a:endParaRPr sz="8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1-2 个短周期方向 PoC 启动</a:t>
            </a:r>
            <a:endParaRPr sz="8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200400" y="3794760"/>
            <a:ext cx="2743200" cy="27432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中期 · 明年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200400" y="4069080"/>
            <a:ext cx="27432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73552" y="4114800"/>
            <a:ext cx="2596896" cy="594360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PdM 起步设备 PoC 完成 + 效果评估</a:t>
            </a:r>
            <a:endParaRPr sz="8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至少 1 个 AI 方向进入 Pilot 阶段</a:t>
            </a:r>
            <a:endParaRPr sz="8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供应商合作策略形成明确共识</a:t>
            </a:r>
            <a:endParaRPr sz="8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126480" y="3794760"/>
            <a:ext cx="2743200" cy="27432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长期方向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126480" y="4069080"/>
            <a:ext cx="27432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9632" y="4114800"/>
            <a:ext cx="2596896" cy="443865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6 大 AI 方向按业务优先级分批落地</a:t>
            </a:r>
            <a:endParaRPr sz="8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沉淀凯莱英自主的 AI 应用能力</a:t>
            </a:r>
            <a:endParaRPr sz="8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2613</Words>
  <Application>WPS Presentation</Application>
  <PresentationFormat>On-screen Show (4:3)</PresentationFormat>
  <Paragraphs>280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李涛</cp:lastModifiedBy>
  <cp:revision>3</cp:revision>
  <dcterms:created xsi:type="dcterms:W3CDTF">2013-01-27T09:14:00Z</dcterms:created>
  <dcterms:modified xsi:type="dcterms:W3CDTF">2026-07-06T07:26:01Z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E2584967AE154B589DE853ACB8FD3ACF_12</vt:lpwstr>
  </property>
</Properties>
</file>