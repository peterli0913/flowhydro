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914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38912"/>
            <a:ext cx="9875520" cy="8686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2563EB"/>
                </a:solidFill>
                <a:latin typeface="Segoe UI"/>
                <a:ea typeface="Microsoft YaHei"/>
              </a:rPr>
              <a:t>Overall Progress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整体推进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Technical session with Keith on 8 September — two tracker items closed in the meeting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9 月 8 日与 Keith 召开技术会，两项跟踪条目在会上关闭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High-pressure gasket accepted as a 316L metallic ring; tantalum is withdrawn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高压垫片接受 316L 金属环方案，钽材路线取消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PIC-028 stays Bronkhorst if the mechanical seal holds at 270 °C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PIC-028 继续用 Bronkhorst，前提是 270 ℃ 时机械密封不外漏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10972800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3D layout is not frozen — the next model follows the direction agreed on 8 September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3D 布置尚未冻结，下一版模型按 9 月 8 日商定的方向更新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Compact split-skid, 2.5 m shipping height, withdrawable front module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紧凑分撬、运输高度 2.5 m、前撬可拉出，不留中间通道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75887"/>
            <a:ext cx="1097280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Working programme aligned on 9 September with the Sandwich visit — layout freeze and HAZOP sit in the same trip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9 月 9 日将工作计划与赴 Sandwich 行程对齐：布置冻结与 HAZOP 安排在同一次现场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Draft visit agenda issued — four blocks, eight working days, proposed 12–22 October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现场议程草案已发出：四块内容、八个工作日，建议 10 月 12–22 日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Walkdown, 3D, manuals / control / sequence, then HAZOP — dates for Keith and Claire to confirm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勘察、3D、手册 / 控制 / 顺控，然后 HAZOP——日期待 Keith、Claire 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Progress 2026-08-27 ~ 09-09    ·    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914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38912"/>
            <a:ext cx="9875520" cy="8686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16A34A"/>
                </a:solidFill>
                <a:latin typeface="Segoe UI"/>
                <a:ea typeface="Microsoft YaHei"/>
              </a:rPr>
              <a:t>Technical Progress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关键技术进展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9344"/>
            <a:ext cx="10972800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Gasket — closed.  316L metallic ring; hardness written into the spec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垫片已关闭：316L 金属环，硬度要求写入规格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Gasket &lt; 150 HB, flange &gt; 160 HB; mill certificates plus a vendor re-check before assembly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垫片 &lt; 150 HB，法兰 &gt; 160 HB；厂家硬度报告，组装前复验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10972800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PIC-028 — closed.  Electronics may fail at 270 °C; the seal must not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PIC-028 已关闭：270 ℃ 时电子件允许失效，密封不得外漏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PSV takes the relief; valve is replaced afterwards.  FFKM on the datasheet and the order; same check for FCV-004 if needed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泄放由安全阀承担，事后换阀。FFKM 写入数据单与合同；FCV-004 视情况同样处理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4081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Layout direction for the next 3D revision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下一版 3D 的布置方向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Ten TCU pipes through a wall plate (China plate / UK slot); last elbow fitted on site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10 根 TCU 管经穿墙板（中方出板、英方开槽）；最后弯头现场安装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Separator may be lowered after the CIP change; new height goes to process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清洗方案调整后分离器可降低，新高度交工艺核算减压后余压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Cabinet set back and rectangular; vents over 2.5 m stripped for shipping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             控制柜后移并改为长方形；超 2.5 m 放散管运输拆下、现场复原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09744"/>
            <a:ext cx="11091672" cy="1024128"/>
          </a:xfrm>
          <a:prstGeom prst="roundRect">
            <a:avLst/>
          </a:prstGeom>
          <a:solidFill>
            <a:srgbClr val="FFF8E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01183"/>
            <a:ext cx="10652760" cy="8595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i="0">
                <a:solidFill>
                  <a:srgbClr val="D97706"/>
                </a:solidFill>
                <a:latin typeface="Segoe UI"/>
                <a:ea typeface="Microsoft YaHei"/>
              </a:rPr>
              <a:t>● </a:t>
            </a:r>
            <a:r>
              <a:rPr sz="1500" b="1" i="0">
                <a:solidFill>
                  <a:srgbClr val="92400E"/>
                </a:solidFill>
                <a:latin typeface="Segoe UI"/>
                <a:ea typeface="Microsoft YaHei"/>
              </a:rPr>
              <a:t>Still open — model being redrawn; one instrument item not reached on 8 September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B4763A"/>
                </a:solidFill>
                <a:latin typeface="Microsoft YaHei"/>
                <a:ea typeface="Microsoft YaHei"/>
              </a:rPr>
              <a:t>仍开放：模型按新方向重排中；9 月 8 日未轮到一项仪表问题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7C5518"/>
                </a:solidFill>
                <a:latin typeface="Segoe UI"/>
                <a:ea typeface="Microsoft YaHei"/>
              </a:rPr>
              <a:t>Whether the PSV can stay at the DN65 size if the reactor is later confirmed as DN50.  DN65 remains the working basis pending the September trial.</a:t>
            </a:r>
          </a:p>
          <a:p>
            <a:r>
              <a:rPr sz="1000" b="0" i="0">
                <a:solidFill>
                  <a:srgbClr val="B4763A"/>
                </a:solidFill>
                <a:latin typeface="Microsoft YaHei"/>
                <a:ea typeface="Microsoft YaHei"/>
              </a:rPr>
              <a:t>若反应器最终确认为 DN50，安全阀能否维持 DN65 口径。在 9 月试验数据到位前，工作基准仍为 DN65。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Progress 2026-08-27 ~ 09-09    ·    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914400" cy="9144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38912"/>
            <a:ext cx="9875520" cy="8686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7C3AED"/>
                </a:solidFill>
                <a:latin typeface="Segoe UI"/>
                <a:ea typeface="Microsoft YaHei"/>
              </a:rPr>
              <a:t>Working Programme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工作计划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64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 b="0" i="0">
                <a:solidFill>
                  <a:srgbClr val="3C4A5A"/>
                </a:solidFill>
                <a:latin typeface="Segoe UI"/>
                <a:ea typeface="Microsoft YaHei"/>
              </a:rPr>
              <a:t>Near-term freeze points aligned on 9 September.  Downstream work keeps the established sequence after the layout is frozen.</a:t>
            </a:r>
          </a:p>
          <a:p>
            <a:r>
              <a:rPr sz="1100" b="0" i="0">
                <a:solidFill>
                  <a:srgbClr val="8A97AB"/>
                </a:solidFill>
                <a:latin typeface="Microsoft YaHei"/>
                <a:ea typeface="Microsoft YaHei"/>
              </a:rPr>
              <a:t>9 月 9 日对齐的近期冻结节点。布置冻结之后，后续仍按既定顺序推进。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1091672" cy="658368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103120"/>
            <a:ext cx="196596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1965960" cy="43891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  <a:ea typeface="Microsoft YaHei"/>
              </a:rPr>
              <a:t>End Sep 2026</a:t>
            </a:r>
          </a:p>
          <a:p>
            <a:pPr algn="ctr"/>
            <a:r>
              <a:rPr sz="900" b="0" i="0">
                <a:solidFill>
                  <a:srgbClr val="EDE9FE"/>
                </a:solidFill>
                <a:latin typeface="Microsoft YaHei"/>
                <a:ea typeface="Microsoft YaHei"/>
              </a:rPr>
              <a:t>9 月底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48256"/>
            <a:ext cx="86868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0" i="0">
                <a:solidFill>
                  <a:srgbClr val="1E2B3A"/>
                </a:solidFill>
                <a:latin typeface="Segoe UI"/>
                <a:ea typeface="Microsoft YaHei"/>
              </a:rPr>
              <a:t>Draft FDS / SDS / HDS, control description and operating instructions as HAZOP input.  Finals after FAT.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FDS / SDS / HDS、控制说明与操作手册出初稿，作为 HAZOP 输入；定稿在 FAT 之后。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88336"/>
            <a:ext cx="11091672" cy="658368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196596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1965960" cy="43891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  <a:ea typeface="Microsoft YaHei"/>
              </a:rPr>
              <a:t>End Sep 2026</a:t>
            </a:r>
          </a:p>
          <a:p>
            <a:pPr algn="ctr"/>
            <a:r>
              <a:rPr sz="900" b="0" i="0">
                <a:solidFill>
                  <a:srgbClr val="EDE9FE"/>
                </a:solidFill>
                <a:latin typeface="Microsoft YaHei"/>
                <a:ea typeface="Microsoft YaHei"/>
              </a:rPr>
              <a:t>9 月底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743200"/>
            <a:ext cx="86868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0" i="0">
                <a:solidFill>
                  <a:srgbClr val="1E2B3A"/>
                </a:solidFill>
                <a:latin typeface="Segoe UI"/>
                <a:ea typeface="Microsoft YaHei"/>
              </a:rPr>
              <a:t>Reactor specification confirmed for enquiry.  Main-equipment procurement can then start — it does not wait for 3D freeze.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反应柱规格确认后即可发起主设备采购，不必等待 3D 冻结。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11091672" cy="658368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493008"/>
            <a:ext cx="196596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93008"/>
            <a:ext cx="1965960" cy="43891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  <a:ea typeface="Microsoft YaHei"/>
              </a:rPr>
              <a:t>12–16 Oct 2026</a:t>
            </a:r>
          </a:p>
          <a:p>
            <a:pPr algn="ctr"/>
            <a:r>
              <a:rPr sz="900" b="0" i="0">
                <a:solidFill>
                  <a:srgbClr val="EDE9FE"/>
                </a:solidFill>
                <a:latin typeface="Microsoft YaHei"/>
                <a:ea typeface="Microsoft YaHei"/>
              </a:rPr>
              <a:t>10/12–16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438144"/>
            <a:ext cx="86868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0" i="0">
                <a:solidFill>
                  <a:srgbClr val="1E2B3A"/>
                </a:solidFill>
                <a:latin typeface="Segoe UI"/>
                <a:ea typeface="Microsoft YaHei"/>
              </a:rPr>
              <a:t>Sandwich: walkdown, 3D layout, operating manual, control philosophy and sequence.  Proposed — for confirmation.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赴 Sandwich：现场勘察、3D、操作手册、控制说明与顺控。建议档期，待确认。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78224"/>
            <a:ext cx="11091672" cy="658368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187952"/>
            <a:ext cx="196596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965960" cy="43891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  <a:ea typeface="Microsoft YaHei"/>
              </a:rPr>
              <a:t>20–22 Oct 2026</a:t>
            </a:r>
          </a:p>
          <a:p>
            <a:pPr algn="ctr"/>
            <a:r>
              <a:rPr sz="900" b="0" i="0">
                <a:solidFill>
                  <a:srgbClr val="EDE9FE"/>
                </a:solidFill>
                <a:latin typeface="Microsoft YaHei"/>
                <a:ea typeface="Microsoft YaHei"/>
              </a:rPr>
              <a:t>10/20–22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133087"/>
            <a:ext cx="86868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0" i="0">
                <a:solidFill>
                  <a:srgbClr val="1E2B3A"/>
                </a:solidFill>
                <a:latin typeface="Segoe UI"/>
                <a:ea typeface="Microsoft YaHei"/>
              </a:rPr>
              <a:t>Sandwich HAZOP on the layout frozen that week.  Proposed — Keith and Claire to confirm.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在当周冻结的布置上做 HAZOP。建议档期，待 Keith、Claire 确认。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73168"/>
            <a:ext cx="11091672" cy="658368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882896"/>
            <a:ext cx="196596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882896"/>
            <a:ext cx="1965960" cy="43891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  <a:ea typeface="Microsoft YaHei"/>
              </a:rPr>
              <a:t>Oct W2 2026</a:t>
            </a:r>
          </a:p>
          <a:p>
            <a:pPr algn="ctr"/>
            <a:r>
              <a:rPr sz="900" b="0" i="0">
                <a:solidFill>
                  <a:srgbClr val="EDE9FE"/>
                </a:solidFill>
                <a:latin typeface="Microsoft YaHei"/>
                <a:ea typeface="Microsoft YaHei"/>
              </a:rPr>
              <a:t>10 月第 2 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828031"/>
            <a:ext cx="86868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0" i="0">
                <a:solidFill>
                  <a:srgbClr val="1E2B3A"/>
                </a:solidFill>
                <a:latin typeface="Segoe UI"/>
                <a:ea typeface="Microsoft YaHei"/>
              </a:rPr>
              <a:t>Main-equipment enquiry after the 1–7 October holiday in China, once the reactor specification is in hand.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中国 10 月 1–7 日假期之后，规格到位即可进入主设备询价。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68112"/>
            <a:ext cx="11091672" cy="658368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5577840"/>
            <a:ext cx="196596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577840"/>
            <a:ext cx="1965960" cy="43891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  <a:ea typeface="Microsoft YaHei"/>
              </a:rPr>
              <a:t>~ Nov W3 2026</a:t>
            </a:r>
          </a:p>
          <a:p>
            <a:pPr algn="ctr"/>
            <a:r>
              <a:rPr sz="900" b="0" i="0">
                <a:solidFill>
                  <a:srgbClr val="EDE9FE"/>
                </a:solidFill>
                <a:latin typeface="Microsoft YaHei"/>
                <a:ea typeface="Microsoft YaHei"/>
              </a:rPr>
              <a:t>约 11 月第 3 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522975"/>
            <a:ext cx="868680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0" i="0">
                <a:solidFill>
                  <a:srgbClr val="1E2B3A"/>
                </a:solidFill>
                <a:latin typeface="Segoe UI"/>
                <a:ea typeface="Microsoft YaHei"/>
              </a:rPr>
              <a:t>Vendor information confirmation — after manufacturer selection, not before.  About four weeks.</a:t>
            </a:r>
          </a:p>
          <a:p>
            <a:r>
              <a:rPr sz="1000" b="0" i="0">
                <a:solidFill>
                  <a:srgbClr val="8A97AB"/>
                </a:solidFill>
                <a:latin typeface="Microsoft YaHei"/>
                <a:ea typeface="Microsoft YaHei"/>
              </a:rPr>
              <a:t>厂家信息确认：在选定厂家之后，而不是之前。约四周闭环。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Progress 2026-08-27 ~ 09-09    ·    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914400" cy="914400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38912"/>
            <a:ext cx="9875520" cy="8686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0E9AA7"/>
                </a:solidFill>
                <a:latin typeface="Segoe UI"/>
                <a:ea typeface="Microsoft YaHei"/>
              </a:rPr>
              <a:t>Sandwich Visit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赴 Sandwich 现场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91056"/>
            <a:ext cx="11091672" cy="713232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652760" cy="60350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500" b="1" i="0">
                <a:solidFill>
                  <a:srgbClr val="0F5E67"/>
                </a:solidFill>
                <a:latin typeface="Segoe UI"/>
                <a:ea typeface="Microsoft YaHei"/>
              </a:rPr>
              <a:t>Purpose — freeze the layout against the room, then run HAZOP once on that frozen basis.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A8A90"/>
                </a:solidFill>
                <a:latin typeface="Microsoft YaHei"/>
                <a:ea typeface="Microsoft YaHei"/>
              </a:rPr>
              <a:t>目的：对照现场空间把布置冻结，再在该基准上只做一次 HAZOP。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50592"/>
            <a:ext cx="5440680" cy="1536192"/>
          </a:xfrm>
          <a:prstGeom prst="roundRect">
            <a:avLst/>
          </a:prstGeom>
          <a:solidFill>
            <a:srgbClr val="F4FBFB"/>
          </a:solidFill>
          <a:ln w="12700">
            <a:solidFill>
              <a:srgbClr val="C5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2596896"/>
            <a:ext cx="384048" cy="384048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96896"/>
            <a:ext cx="384048" cy="384048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78608"/>
            <a:ext cx="461772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 i="0">
                <a:solidFill>
                  <a:srgbClr val="0F5E67"/>
                </a:solidFill>
                <a:latin typeface="Segoe UI"/>
                <a:ea typeface="Microsoft YaHei"/>
              </a:rPr>
              <a:t>Site walkdown</a:t>
            </a:r>
            <a:r>
              <a:rPr sz="1100" b="0" i="0">
                <a:solidFill>
                  <a:srgbClr val="0E9AA7"/>
                </a:solidFill>
                <a:latin typeface="Segoe UI"/>
                <a:ea typeface="Microsoft YaHei"/>
              </a:rPr>
              <a:t>   0.5 day</a:t>
            </a:r>
          </a:p>
          <a:p>
            <a:r>
              <a:rPr sz="1100" b="0" i="0">
                <a:solidFill>
                  <a:srgbClr val="8A97AB"/>
                </a:solidFill>
                <a:latin typeface="Microsoft YaHei"/>
                <a:ea typeface="Microsoft YaHei"/>
              </a:rPr>
              <a:t>现场勘察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08960"/>
            <a:ext cx="5120640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 i="0">
                <a:solidFill>
                  <a:srgbClr val="3C4A5A"/>
                </a:solidFill>
                <a:latin typeface="Segoe UI"/>
                <a:ea typeface="Microsoft YaHei"/>
              </a:rPr>
              <a:t>Skid boundary, stairwell, emergency shower, HTF wall penetration, goods-lift and delivery route — measured and jointly confirmed.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450592"/>
            <a:ext cx="5440680" cy="1536192"/>
          </a:xfrm>
          <a:prstGeom prst="roundRect">
            <a:avLst/>
          </a:prstGeom>
          <a:solidFill>
            <a:srgbClr val="F4FBFB"/>
          </a:solidFill>
          <a:ln w="12700">
            <a:solidFill>
              <a:srgbClr val="C5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3" y="2596896"/>
            <a:ext cx="384048" cy="384048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2596896"/>
            <a:ext cx="384048" cy="384048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578608"/>
            <a:ext cx="461772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 i="0">
                <a:solidFill>
                  <a:srgbClr val="0F5E67"/>
                </a:solidFill>
                <a:latin typeface="Segoe UI"/>
                <a:ea typeface="Microsoft YaHei"/>
              </a:rPr>
              <a:t>3D model</a:t>
            </a:r>
            <a:r>
              <a:rPr sz="1100" b="0" i="0">
                <a:solidFill>
                  <a:srgbClr val="0E9AA7"/>
                </a:solidFill>
                <a:latin typeface="Segoe UI"/>
                <a:ea typeface="Microsoft YaHei"/>
              </a:rPr>
              <a:t>   2.5 days</a:t>
            </a:r>
          </a:p>
          <a:p>
            <a:r>
              <a:rPr sz="1100" b="0" i="0">
                <a:solidFill>
                  <a:srgbClr val="8A97AB"/>
                </a:solidFill>
                <a:latin typeface="Microsoft YaHei"/>
                <a:ea typeface="Microsoft YaHei"/>
              </a:rPr>
              <a:t>3D 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108960"/>
            <a:ext cx="5120640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 i="0">
                <a:solidFill>
                  <a:srgbClr val="3C4A5A"/>
                </a:solidFill>
                <a:latin typeface="Segoe UI"/>
                <a:ea typeface="Microsoft YaHei"/>
              </a:rPr>
              <a:t>Equipment sequence, maintenance access, control-cabinet envelope, and the split-skid boundaries, including height for the goods lift.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96512"/>
            <a:ext cx="5440680" cy="1536192"/>
          </a:xfrm>
          <a:prstGeom prst="roundRect">
            <a:avLst/>
          </a:prstGeom>
          <a:solidFill>
            <a:srgbClr val="F4FBFB"/>
          </a:solidFill>
          <a:ln w="12700">
            <a:solidFill>
              <a:srgbClr val="C5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4242816"/>
            <a:ext cx="384048" cy="384048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242816"/>
            <a:ext cx="384048" cy="384048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24528"/>
            <a:ext cx="461772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 i="0">
                <a:solidFill>
                  <a:srgbClr val="0F5E67"/>
                </a:solidFill>
                <a:latin typeface="Segoe UI"/>
                <a:ea typeface="Microsoft YaHei"/>
              </a:rPr>
              <a:t>Manuals &amp; control</a:t>
            </a:r>
            <a:r>
              <a:rPr sz="1100" b="0" i="0">
                <a:solidFill>
                  <a:srgbClr val="0E9AA7"/>
                </a:solidFill>
                <a:latin typeface="Segoe UI"/>
                <a:ea typeface="Microsoft YaHei"/>
              </a:rPr>
              <a:t>   2 days</a:t>
            </a:r>
          </a:p>
          <a:p>
            <a:r>
              <a:rPr sz="1100" b="0" i="0">
                <a:solidFill>
                  <a:srgbClr val="8A97AB"/>
                </a:solidFill>
                <a:latin typeface="Microsoft YaHei"/>
                <a:ea typeface="Microsoft YaHei"/>
              </a:rPr>
              <a:t>手册与控制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54880"/>
            <a:ext cx="5120640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 i="0">
                <a:solidFill>
                  <a:srgbClr val="3C4A5A"/>
                </a:solidFill>
                <a:latin typeface="Segoe UI"/>
                <a:ea typeface="Microsoft YaHei"/>
              </a:rPr>
              <a:t>Operating manual, control philosophy and sequence walked against the layout fixed earlier in the week.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4096512"/>
            <a:ext cx="5440680" cy="1536192"/>
          </a:xfrm>
          <a:prstGeom prst="roundRect">
            <a:avLst/>
          </a:prstGeom>
          <a:solidFill>
            <a:srgbClr val="F4FBFB"/>
          </a:solidFill>
          <a:ln w="12700">
            <a:solidFill>
              <a:srgbClr val="C5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3" y="4242816"/>
            <a:ext cx="384048" cy="384048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3" y="4242816"/>
            <a:ext cx="384048" cy="384048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  <a:ea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4224528"/>
            <a:ext cx="461772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 i="0">
                <a:solidFill>
                  <a:srgbClr val="0F5E67"/>
                </a:solidFill>
                <a:latin typeface="Segoe UI"/>
                <a:ea typeface="Microsoft YaHei"/>
              </a:rPr>
              <a:t>HAZOP</a:t>
            </a:r>
            <a:r>
              <a:rPr sz="1100" b="0" i="0">
                <a:solidFill>
                  <a:srgbClr val="0E9AA7"/>
                </a:solidFill>
                <a:latin typeface="Segoe UI"/>
                <a:ea typeface="Microsoft YaHei"/>
              </a:rPr>
              <a:t>   3 days</a:t>
            </a:r>
          </a:p>
          <a:p>
            <a:r>
              <a:rPr sz="1100" b="0" i="0">
                <a:solidFill>
                  <a:srgbClr val="8A97AB"/>
                </a:solidFill>
                <a:latin typeface="Microsoft YaHei"/>
                <a:ea typeface="Microsoft YaHei"/>
              </a:rPr>
              <a:t>HAZOP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754880"/>
            <a:ext cx="5120640" cy="7863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0" i="0">
                <a:solidFill>
                  <a:srgbClr val="3C4A5A"/>
                </a:solidFill>
                <a:latin typeface="Segoe UI"/>
                <a:ea typeface="Microsoft YaHei"/>
              </a:rPr>
              <a:t>Study on the frozen P&amp;ID and layout.  Actions and owners recorded in the room; no node left for a follow-up study.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742432"/>
            <a:ext cx="11064240" cy="585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 i="0">
                <a:solidFill>
                  <a:srgbClr val="0E9AA7"/>
                </a:solidFill>
                <a:latin typeface="Segoe UI"/>
                <a:ea typeface="Microsoft YaHei"/>
              </a:rPr>
              <a:t>Proposed   </a:t>
            </a:r>
            <a:r>
              <a:rPr sz="1200" b="0" i="0">
                <a:solidFill>
                  <a:srgbClr val="1E2B3A"/>
                </a:solidFill>
                <a:latin typeface="Segoe UI"/>
                <a:ea typeface="Microsoft YaHei"/>
              </a:rPr>
              <a:t>12–16 Oct (walkdown / 3D / manuals)   ·   20–22 Oct (HAZOP)</a:t>
            </a:r>
          </a:p>
          <a:p>
            <a:pPr>
              <a:spcBef>
                <a:spcPts val="200"/>
              </a:spcBef>
            </a:pPr>
            <a:r>
              <a:rPr sz="1200" b="1" i="0">
                <a:solidFill>
                  <a:srgbClr val="0E9AA7"/>
                </a:solidFill>
                <a:latin typeface="Segoe UI"/>
                <a:ea typeface="Microsoft YaHei"/>
              </a:rPr>
              <a:t>Attendees  </a:t>
            </a:r>
            <a:r>
              <a:rPr sz="1200" b="0" i="0">
                <a:solidFill>
                  <a:srgbClr val="1E2B3A"/>
                </a:solidFill>
                <a:latin typeface="Segoe UI"/>
                <a:ea typeface="Microsoft YaHei"/>
              </a:rPr>
              <a:t>Keith · Li Tao · Fan Shuangshuang · Hu Chaoqun · Meng Dezhi</a:t>
            </a:r>
            <a:r>
              <a:rPr sz="1100" b="0" i="0">
                <a:solidFill>
                  <a:srgbClr val="8A97AB"/>
                </a:solidFill>
                <a:latin typeface="Segoe UI"/>
                <a:ea typeface="Microsoft YaHei"/>
              </a:rPr>
              <a:t>    Agenda: </a:t>
            </a:r>
            <a:r>
              <a:rPr sz="1100" b="0" i="1">
                <a:solidFill>
                  <a:srgbClr val="5A6675"/>
                </a:solidFill>
                <a:latin typeface="Segoe UI"/>
                <a:ea typeface="Microsoft YaHei"/>
              </a:rPr>
              <a:t>Agenda of the visit to Sandwich (3D &amp; HAZOP).xlsx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Progress 2026-08-27 ~ 09-09    ·    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914400" cy="914400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38912"/>
            <a:ext cx="9875520" cy="8686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0E9AA7"/>
                </a:solidFill>
                <a:latin typeface="Segoe UI"/>
                <a:ea typeface="Microsoft YaHei"/>
              </a:rPr>
              <a:t>Next Steps</a:t>
            </a: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Fan — redraw the 3D model to the 8 September direction; pass the new separator height to process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范双双：按 9 月 8 日方向重排 3D，并将分离器新高度交给工艺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97280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Meng — send Keith the rectangular, reachable cabinet envelope for enquiry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孟德智：把长方形、够得到的控制柜目标尺寸发给 Keith 询价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1097280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Zhao / Gao — write gasket hardness and PIC-028 FFKM into the datasheets (FCV-004 if needed)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赵子亮 / 高宇：垫片硬度与 PIC-028 的 FFKM 写入数据单（必要时含 FCV-004）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18688"/>
            <a:ext cx="1097280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Issue draft FDS, control description and operating instructions by the end of September, as HAZOP input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9 月底发出 FDS、控制说明与操作手册初稿，作为 HAZOP 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Raise the main-equipment enquiry once the reactor specification is confirmed — do not wait for 3D freeze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反应柱规格确认后即发起主设备询价，不因 3D 未冻结而等待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9392"/>
            <a:ext cx="1097280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Confirm 12–22 October with Keith and Claire; start visa / travel once the dates are firm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与 Keith、Claire 确认 10 月 12–22 日，日期确定后启动签证与差旅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9744"/>
            <a:ext cx="1097280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i="0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650" b="1" i="0">
                <a:solidFill>
                  <a:srgbClr val="1E2B3A"/>
                </a:solidFill>
                <a:latin typeface="Segoe UI"/>
                <a:ea typeface="Microsoft YaHei"/>
              </a:rPr>
              <a:t>Close remaining tracker lines — cleaning, manuals, control description — at the visit or the next session</a:t>
            </a:r>
          </a:p>
          <a:p>
            <a:pPr>
              <a:spcBef>
                <a:spcPts val="100"/>
              </a:spcBef>
            </a:pPr>
            <a:r>
              <a:rPr sz="1150" b="0" i="0">
                <a:solidFill>
                  <a:srgbClr val="8A97AB"/>
                </a:solidFill>
                <a:latin typeface="Microsoft YaHei"/>
                <a:ea typeface="Microsoft YaHei"/>
              </a:rPr>
              <a:t>     剩余跟踪条目（清洗、手册、控制说明）在现场或下一次技术会上关闭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64465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Progress 2026-08-27 ~ 09-09    ·    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