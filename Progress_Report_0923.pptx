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47472"/>
            <a:ext cx="841248" cy="841248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841248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Segoe UI"/>
                <a:ea typeface="Microsoft Ya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36192" y="365760"/>
            <a:ext cx="10058400" cy="804672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sz="2800" b="1" i="0">
                <a:solidFill>
                  <a:srgbClr val="2563EB"/>
                </a:solidFill>
                <a:latin typeface="Segoe UI"/>
                <a:ea typeface="Microsoft YaHei"/>
              </a:rPr>
              <a:t>Overall Progress</a:t>
            </a:r>
          </a:p>
          <a:p>
            <a:pPr>
              <a:spcBef>
                <a:spcPts val="100"/>
              </a:spcBef>
            </a:pPr>
            <a:r>
              <a:rPr sz="1400" b="0" i="0">
                <a:solidFill>
                  <a:srgbClr val="8A97AB"/>
                </a:solidFill>
                <a:latin typeface="Microsoft YaHei"/>
                <a:ea typeface="Microsoft YaHei"/>
              </a:rPr>
              <a:t>整体推进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35024"/>
            <a:ext cx="11183112" cy="13716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499616"/>
            <a:ext cx="11183112" cy="70332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499616"/>
            <a:ext cx="64008" cy="70332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554480"/>
            <a:ext cx="10744200" cy="61188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1500" b="1" i="0">
                <a:solidFill>
                  <a:srgbClr val="1E2B3A"/>
                </a:solidFill>
                <a:latin typeface="Segoe UI"/>
                <a:ea typeface="Microsoft YaHei"/>
              </a:rPr>
              <a:t>21 Sep — first 3D on the 8 Sep direction, issued by email.  22 Sep — reviewed live with Keith.</a:t>
            </a:r>
          </a:p>
          <a:p>
            <a:pPr>
              <a:spcBef>
                <a:spcPts val="300"/>
              </a:spcBef>
            </a:pPr>
            <a:r>
              <a:rPr sz="1200" b="0" i="0">
                <a:solidFill>
                  <a:srgbClr val="8A97AB"/>
                </a:solidFill>
                <a:latin typeface="Microsoft YaHei"/>
                <a:ea typeface="Microsoft YaHei"/>
              </a:rPr>
              <a:t>9 月 21 日发出按 9 月 8 日方向排的第一版 3D；9 月 22 日与 Keith 对照模型过完。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312670"/>
            <a:ext cx="11183112" cy="9357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312670"/>
            <a:ext cx="64008" cy="93573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367534"/>
            <a:ext cx="10744200" cy="84429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1500" b="1" i="0">
                <a:solidFill>
                  <a:srgbClr val="1E2B3A"/>
                </a:solidFill>
                <a:latin typeface="Segoe UI"/>
                <a:ea typeface="Microsoft YaHei"/>
              </a:rPr>
              <a:t>The maintenance principle is unchanged: pull the front module out.  No central walkway.  Shipping height stays 2.5 m.</a:t>
            </a:r>
          </a:p>
          <a:p>
            <a:pPr>
              <a:spcBef>
                <a:spcPts val="300"/>
              </a:spcBef>
            </a:pPr>
            <a:r>
              <a:rPr sz="1200" b="0" i="0">
                <a:solidFill>
                  <a:srgbClr val="8A97AB"/>
                </a:solidFill>
                <a:latin typeface="Microsoft YaHei"/>
                <a:ea typeface="Microsoft YaHei"/>
              </a:rPr>
              <a:t>维护原则未变：前撬拉出检修，不留中间通道，运输高度仍为 2.5 m。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358134"/>
            <a:ext cx="11183112" cy="1192784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3358134"/>
            <a:ext cx="64008" cy="119278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3412998"/>
            <a:ext cx="10744200" cy="11013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1500" b="1" i="0">
                <a:solidFill>
                  <a:srgbClr val="1E2B3A"/>
                </a:solidFill>
                <a:latin typeface="Segoe UI"/>
                <a:ea typeface="Microsoft YaHei"/>
              </a:rPr>
              <a:t>Tracker: 62 closed, 44 pending, 29 open.  Nothing moved to closed this fortnight.</a:t>
            </a:r>
          </a:p>
          <a:p>
            <a:pPr>
              <a:spcBef>
                <a:spcPts val="300"/>
              </a:spcBef>
            </a:pPr>
            <a:r>
              <a:rPr sz="1200" b="0" i="0">
                <a:solidFill>
                  <a:srgbClr val="8A97AB"/>
                </a:solidFill>
                <a:latin typeface="Microsoft YaHei"/>
                <a:ea typeface="Microsoft YaHei"/>
              </a:rPr>
              <a:t>跟踪表：已关闭 62，待定 44，未关闭 29。本双周没有新的关闭项。</a:t>
            </a:r>
          </a:p>
          <a:p>
            <a:pPr>
              <a:spcBef>
                <a:spcPts val="600"/>
              </a:spcBef>
            </a:pPr>
            <a:r>
              <a:rPr sz="1300" b="0" i="0">
                <a:solidFill>
                  <a:srgbClr val="94A3B8"/>
                </a:solidFill>
                <a:latin typeface="Segoe UI"/>
                <a:ea typeface="Microsoft YaHei"/>
              </a:rPr>
              <a:t>–  </a:t>
            </a:r>
            <a:r>
              <a:rPr sz="1300" b="0" i="0">
                <a:solidFill>
                  <a:srgbClr val="3C4A5A"/>
                </a:solidFill>
                <a:latin typeface="Segoe UI"/>
                <a:ea typeface="Microsoft YaHei"/>
              </a:rPr>
              <a:t>The movement is on the model and on three rules Keith set on 22 Sep — not on line-by-line closure.</a:t>
            </a:r>
          </a:p>
          <a:p>
            <a:pPr>
              <a:spcBef>
                <a:spcPts val="100"/>
              </a:spcBef>
            </a:pPr>
            <a:r>
              <a:rPr sz="1200" b="0" i="0">
                <a:solidFill>
                  <a:srgbClr val="8A97AB"/>
                </a:solidFill>
                <a:latin typeface="Microsoft YaHei"/>
                <a:ea typeface="Microsoft YaHei"/>
              </a:rPr>
              <a:t>本期推进在模型和 22 日 Keith 定下的三条规则上，不在逐条关项上。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660646"/>
            <a:ext cx="11183112" cy="9357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4660646"/>
            <a:ext cx="64008" cy="93573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715510"/>
            <a:ext cx="10744200" cy="84429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1500" b="1" i="0">
                <a:solidFill>
                  <a:srgbClr val="1E2B3A"/>
                </a:solidFill>
                <a:latin typeface="Segoe UI"/>
                <a:ea typeface="Microsoft YaHei"/>
              </a:rPr>
              <a:t>Critical path has narrowed: nozzle direction and the HTF runs, then Keith can release the 18 Aug equipment drawings.</a:t>
            </a:r>
          </a:p>
          <a:p>
            <a:pPr>
              <a:spcBef>
                <a:spcPts val="300"/>
              </a:spcBef>
            </a:pPr>
            <a:r>
              <a:rPr sz="1200" b="0" i="0">
                <a:solidFill>
                  <a:srgbClr val="8A97AB"/>
                </a:solidFill>
                <a:latin typeface="Microsoft YaHei"/>
                <a:ea typeface="Microsoft YaHei"/>
              </a:rPr>
              <a:t>关键路径收窄为：先定管嘴朝向和 HTF 走向，Keith 才能放行 8 月 18 日的主设备图。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6583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9AA6B8"/>
                </a:solidFill>
                <a:latin typeface="Segoe UI"/>
                <a:ea typeface="Microsoft YaHei"/>
              </a:rPr>
              <a:t>Asymchem · Sandwich Site   |   Continuous Hydrogenation Skid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6446520"/>
            <a:ext cx="4663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9AA6B8"/>
                </a:solidFill>
                <a:latin typeface="Segoe UI"/>
                <a:ea typeface="Microsoft YaHei"/>
              </a:rPr>
              <a:t>Bi-weekly Progress 2026-09-09 ~ 09-23    ·    01 / 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47472"/>
            <a:ext cx="841248" cy="841248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841248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Segoe UI"/>
                <a:ea typeface="Microsoft Ya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36192" y="365760"/>
            <a:ext cx="10058400" cy="804672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sz="2800" b="1" i="0">
                <a:solidFill>
                  <a:srgbClr val="16A34A"/>
                </a:solidFill>
                <a:latin typeface="Segoe UI"/>
                <a:ea typeface="Microsoft YaHei"/>
              </a:rPr>
              <a:t>What 22 Sep Settled</a:t>
            </a:r>
          </a:p>
          <a:p>
            <a:pPr>
              <a:spcBef>
                <a:spcPts val="100"/>
              </a:spcBef>
            </a:pPr>
            <a:r>
              <a:rPr sz="1400" b="0" i="0">
                <a:solidFill>
                  <a:srgbClr val="8A97AB"/>
                </a:solidFill>
                <a:latin typeface="Microsoft YaHei"/>
                <a:ea typeface="Microsoft YaHei"/>
              </a:rPr>
              <a:t>9 月 22 日已说清的技术规则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35024"/>
            <a:ext cx="11183112" cy="13716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481328"/>
            <a:ext cx="11183112" cy="1425194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481328"/>
            <a:ext cx="64008" cy="142519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536192"/>
            <a:ext cx="10744200" cy="133375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1500" b="1" i="0">
                <a:solidFill>
                  <a:srgbClr val="1E2B3A"/>
                </a:solidFill>
                <a:latin typeface="Segoe UI"/>
                <a:ea typeface="Microsoft YaHei"/>
              </a:rPr>
              <a:t>TCU — the wall penetration is fixed.  Ten pipes may stack after the wall.  The five TCU units follow our nozzles.</a:t>
            </a:r>
          </a:p>
          <a:p>
            <a:pPr>
              <a:spcBef>
                <a:spcPts val="300"/>
              </a:spcBef>
            </a:pPr>
            <a:r>
              <a:rPr sz="1200" b="0" i="0">
                <a:solidFill>
                  <a:srgbClr val="8A97AB"/>
                </a:solidFill>
                <a:latin typeface="Microsoft YaHei"/>
                <a:ea typeface="Microsoft YaHei"/>
              </a:rPr>
              <a:t>TCU：穿墙位置已定。10 根管过墙后可以叠成两层。5 台 TCU 跟着我方管口走。</a:t>
            </a:r>
          </a:p>
          <a:p>
            <a:pPr>
              <a:spcBef>
                <a:spcPts val="600"/>
              </a:spcBef>
            </a:pPr>
            <a:r>
              <a:rPr sz="1300" b="0" i="0">
                <a:solidFill>
                  <a:srgbClr val="94A3B8"/>
                </a:solidFill>
                <a:latin typeface="Segoe UI"/>
                <a:ea typeface="Microsoft YaHei"/>
              </a:rPr>
              <a:t>–  </a:t>
            </a:r>
            <a:r>
              <a:rPr sz="1300" b="0" i="0">
                <a:solidFill>
                  <a:srgbClr val="3C4A5A"/>
                </a:solidFill>
                <a:latin typeface="Segoe UI"/>
                <a:ea typeface="Microsoft YaHei"/>
              </a:rPr>
              <a:t>One vent on the SW side of the wall, not ten vents on the skid.  Wall plate is flanged both sides — no site weld in the gap.</a:t>
            </a:r>
          </a:p>
          <a:p>
            <a:pPr>
              <a:spcBef>
                <a:spcPts val="100"/>
              </a:spcBef>
            </a:pPr>
            <a:r>
              <a:rPr sz="1200" b="0" i="0">
                <a:solidFill>
                  <a:srgbClr val="8A97AB"/>
                </a:solidFill>
                <a:latin typeface="Microsoft YaHei"/>
                <a:ea typeface="Microsoft YaHei"/>
              </a:rPr>
              <a:t>排气只留一个点，放在墙的 SW 侧，不在撬上放 10 个排气阀。穿墙板两侧法兰对接，窄处不现场焊接。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979674"/>
            <a:ext cx="11183112" cy="1883664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979674"/>
            <a:ext cx="64008" cy="188366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3034538"/>
            <a:ext cx="10744200" cy="17922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1500" b="1" i="0">
                <a:solidFill>
                  <a:srgbClr val="1E2B3A"/>
                </a:solidFill>
                <a:latin typeface="Segoe UI"/>
                <a:ea typeface="Microsoft YaHei"/>
              </a:rPr>
              <a:t>Layout — two options will be drawn and compared.  Not a freeze yet.</a:t>
            </a:r>
          </a:p>
          <a:p>
            <a:pPr>
              <a:spcBef>
                <a:spcPts val="300"/>
              </a:spcBef>
            </a:pPr>
            <a:r>
              <a:rPr sz="1200" b="0" i="0">
                <a:solidFill>
                  <a:srgbClr val="8A97AB"/>
                </a:solidFill>
                <a:latin typeface="Microsoft YaHei"/>
                <a:ea typeface="Microsoft YaHei"/>
              </a:rPr>
              <a:t>布置先出两版对比，这次会上没有冻结。</a:t>
            </a:r>
          </a:p>
          <a:p>
            <a:pPr>
              <a:spcBef>
                <a:spcPts val="600"/>
              </a:spcBef>
            </a:pPr>
            <a:r>
              <a:rPr sz="1300" b="0" i="0">
                <a:solidFill>
                  <a:srgbClr val="94A3B8"/>
                </a:solidFill>
                <a:latin typeface="Segoe UI"/>
                <a:ea typeface="Microsoft YaHei"/>
              </a:rPr>
              <a:t>–  </a:t>
            </a:r>
            <a:r>
              <a:rPr sz="1300" b="0" i="0">
                <a:solidFill>
                  <a:srgbClr val="3C4A5A"/>
                </a:solidFill>
                <a:latin typeface="Segoe UI"/>
                <a:ea typeface="Microsoft YaHei"/>
              </a:rPr>
              <a:t>Fan’s option: swap SE01 / CU01 with the rear valves, so the valves stay in front when the module is pulled.</a:t>
            </a:r>
          </a:p>
          <a:p>
            <a:pPr>
              <a:spcBef>
                <a:spcPts val="100"/>
              </a:spcBef>
            </a:pPr>
            <a:r>
              <a:rPr sz="1200" b="0" i="0">
                <a:solidFill>
                  <a:srgbClr val="8A97AB"/>
                </a:solidFill>
                <a:latin typeface="Microsoft YaHei"/>
                <a:ea typeface="Microsoft YaHei"/>
              </a:rPr>
              <a:t>范双双的方案：SE01 / CU01 与后部阀门对调，前撬拉出后阀门仍在前面。</a:t>
            </a:r>
          </a:p>
          <a:p>
            <a:pPr>
              <a:spcBef>
                <a:spcPts val="600"/>
              </a:spcBef>
            </a:pPr>
            <a:r>
              <a:rPr sz="1300" b="0" i="0">
                <a:solidFill>
                  <a:srgbClr val="94A3B8"/>
                </a:solidFill>
                <a:latin typeface="Segoe UI"/>
                <a:ea typeface="Microsoft YaHei"/>
              </a:rPr>
              <a:t>–  </a:t>
            </a:r>
            <a:r>
              <a:rPr sz="1300" b="0" i="0">
                <a:solidFill>
                  <a:srgbClr val="3C4A5A"/>
                </a:solidFill>
                <a:latin typeface="Segoe UI"/>
                <a:ea typeface="Microsoft YaHei"/>
              </a:rPr>
              <a:t>Keith’s option: condenser slightly forward; separator turned to the wall so the level gauge withdraws from the end.  The hole in the middle takes fully welded HTF.</a:t>
            </a:r>
          </a:p>
          <a:p>
            <a:pPr>
              <a:spcBef>
                <a:spcPts val="100"/>
              </a:spcBef>
            </a:pPr>
            <a:r>
              <a:rPr sz="1200" b="0" i="0">
                <a:solidFill>
                  <a:srgbClr val="8A97AB"/>
                </a:solidFill>
                <a:latin typeface="Microsoft YaHei"/>
                <a:ea typeface="Microsoft YaHei"/>
              </a:rPr>
              <a:t>Keith 的方案：冷凝器略向前；分离器靠墙转约 90°，液位计从端部抽出。中间空档走全焊接 HTF。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6583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9AA6B8"/>
                </a:solidFill>
                <a:latin typeface="Segoe UI"/>
                <a:ea typeface="Microsoft YaHei"/>
              </a:rPr>
              <a:t>Asymchem · Sandwich Site   |   Continuous Hydrogenation Skid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6446520"/>
            <a:ext cx="4663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9AA6B8"/>
                </a:solidFill>
                <a:latin typeface="Segoe UI"/>
                <a:ea typeface="Microsoft YaHei"/>
              </a:rPr>
              <a:t>Bi-weekly Progress 2026-09-09 ~ 09-23    ·    02 / 05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47472"/>
            <a:ext cx="841248" cy="841248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841248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Segoe UI"/>
                <a:ea typeface="Microsoft Ya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36192" y="365760"/>
            <a:ext cx="10058400" cy="804672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sz="2800" b="1" i="0">
                <a:solidFill>
                  <a:srgbClr val="16A34A"/>
                </a:solidFill>
                <a:latin typeface="Segoe UI"/>
                <a:ea typeface="Microsoft YaHei"/>
              </a:rPr>
              <a:t>Piping Rules from 22 Sep</a:t>
            </a:r>
          </a:p>
          <a:p>
            <a:pPr>
              <a:spcBef>
                <a:spcPts val="100"/>
              </a:spcBef>
            </a:pPr>
            <a:r>
              <a:rPr sz="1400" b="0" i="0">
                <a:solidFill>
                  <a:srgbClr val="8A97AB"/>
                </a:solidFill>
                <a:latin typeface="Microsoft YaHei"/>
                <a:ea typeface="Microsoft YaHei"/>
              </a:rPr>
              <a:t>9 月 22 日定下的管路规则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35024"/>
            <a:ext cx="11183112" cy="13716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499616"/>
            <a:ext cx="11183112" cy="9357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499616"/>
            <a:ext cx="64008" cy="93573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554480"/>
            <a:ext cx="10744200" cy="84429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1500" b="1" i="0">
                <a:solidFill>
                  <a:srgbClr val="1E2B3A"/>
                </a:solidFill>
                <a:latin typeface="Segoe UI"/>
                <a:ea typeface="Microsoft YaHei"/>
              </a:rPr>
              <a:t>Reactor 3 HTF nozzle turns toward the wall riser.  The pipe no longer runs out to the skid end and doubles back.</a:t>
            </a:r>
          </a:p>
          <a:p>
            <a:pPr>
              <a:spcBef>
                <a:spcPts val="300"/>
              </a:spcBef>
            </a:pPr>
            <a:r>
              <a:rPr sz="1200" b="0" i="0">
                <a:solidFill>
                  <a:srgbClr val="8A97AB"/>
                </a:solidFill>
                <a:latin typeface="Microsoft YaHei"/>
                <a:ea typeface="Microsoft YaHei"/>
              </a:rPr>
              <a:t>反应器 3 的 HTF 管嘴改朝穿墙立管。管子不再先跑到撬端再折回。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563368"/>
            <a:ext cx="11183112" cy="162661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563368"/>
            <a:ext cx="64008" cy="162661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618232"/>
            <a:ext cx="10744200" cy="153517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1500" b="1" i="0">
                <a:solidFill>
                  <a:srgbClr val="1E2B3A"/>
                </a:solidFill>
                <a:latin typeface="Segoe UI"/>
                <a:ea typeface="Microsoft YaHei"/>
              </a:rPr>
              <a:t>Drains and CIP — valve at the tee, hose at the front.  PSV-025 and PSV-019 stay separate and move to the skid edge.</a:t>
            </a:r>
          </a:p>
          <a:p>
            <a:pPr>
              <a:spcBef>
                <a:spcPts val="300"/>
              </a:spcBef>
            </a:pPr>
            <a:r>
              <a:rPr sz="1200" b="0" i="0">
                <a:solidFill>
                  <a:srgbClr val="8A97AB"/>
                </a:solidFill>
                <a:latin typeface="Microsoft YaHei"/>
                <a:ea typeface="Microsoft YaHei"/>
              </a:rPr>
              <a:t>排净和 CIP：阀紧贴三通，软管接口在撬前。PSV-025 与 PSV-019 不合并，挪到撬边。</a:t>
            </a:r>
          </a:p>
          <a:p>
            <a:pPr>
              <a:spcBef>
                <a:spcPts val="600"/>
              </a:spcBef>
            </a:pPr>
            <a:r>
              <a:rPr sz="1300" b="0" i="0">
                <a:solidFill>
                  <a:srgbClr val="94A3B8"/>
                </a:solidFill>
                <a:latin typeface="Segoe UI"/>
                <a:ea typeface="Microsoft YaHei"/>
              </a:rPr>
              <a:t>–  </a:t>
            </a:r>
            <a:r>
              <a:rPr sz="1300" b="0" i="0">
                <a:solidFill>
                  <a:srgbClr val="3C4A5A"/>
                </a:solidFill>
                <a:latin typeface="Segoe UI"/>
                <a:ea typeface="Microsoft YaHei"/>
              </a:rPr>
              <a:t>Unreachable valves take a compact Habonim actuated ball valve, operated from the end.  A 300–400 mm reach can stay manual.</a:t>
            </a:r>
          </a:p>
          <a:p>
            <a:pPr>
              <a:spcBef>
                <a:spcPts val="100"/>
              </a:spcBef>
            </a:pPr>
            <a:r>
              <a:rPr sz="1200" b="0" i="0">
                <a:solidFill>
                  <a:srgbClr val="8A97AB"/>
                </a:solidFill>
                <a:latin typeface="Microsoft YaHei"/>
                <a:ea typeface="Microsoft YaHei"/>
              </a:rPr>
              <a:t>够不到的阀用 Habonim 小型气动球阀，在撬端操作。伸手 300–400 mm 能到的可以保持手动。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318000"/>
            <a:ext cx="11183112" cy="9357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4318000"/>
            <a:ext cx="64008" cy="93573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4372864"/>
            <a:ext cx="10744200" cy="84429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1500" b="1" i="0">
                <a:solidFill>
                  <a:srgbClr val="1E2B3A"/>
                </a:solidFill>
                <a:latin typeface="Segoe UI"/>
                <a:ea typeface="Microsoft YaHei"/>
              </a:rPr>
              <a:t>Width cannot drop 100–200 mm — the limit is the pump and BT01.  Cleaning-mode high-level bypass is written into the manual, and is not yet agreed with Keith.</a:t>
            </a:r>
          </a:p>
          <a:p>
            <a:pPr>
              <a:spcBef>
                <a:spcPts val="300"/>
              </a:spcBef>
            </a:pPr>
            <a:r>
              <a:rPr sz="1200" b="0" i="0">
                <a:solidFill>
                  <a:srgbClr val="8A97AB"/>
                </a:solidFill>
                <a:latin typeface="Microsoft YaHei"/>
                <a:ea typeface="Microsoft YaHei"/>
              </a:rPr>
              <a:t>宽度减不了 100–200 mm，限制在泵和 BT01。清洗模式旁路高液位联锁已写入手册，Keith 尚未认可。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6583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9AA6B8"/>
                </a:solidFill>
                <a:latin typeface="Segoe UI"/>
                <a:ea typeface="Microsoft YaHei"/>
              </a:rPr>
              <a:t>Asymchem · Sandwich Site   |   Continuous Hydrogenation Skid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6446520"/>
            <a:ext cx="4663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9AA6B8"/>
                </a:solidFill>
                <a:latin typeface="Segoe UI"/>
                <a:ea typeface="Microsoft YaHei"/>
              </a:rPr>
              <a:t>Bi-weekly Progress 2026-09-09 ~ 09-23    ·    03 / 05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47472"/>
            <a:ext cx="841248" cy="841248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841248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Segoe UI"/>
                <a:ea typeface="Microsoft YaHe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36192" y="365760"/>
            <a:ext cx="10058400" cy="804672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sz="2800" b="1" i="0">
                <a:solidFill>
                  <a:srgbClr val="DC2626"/>
                </a:solidFill>
                <a:latin typeface="Segoe UI"/>
                <a:ea typeface="Microsoft YaHei"/>
              </a:rPr>
              <a:t>What Changes the Plan</a:t>
            </a:r>
          </a:p>
          <a:p>
            <a:pPr>
              <a:spcBef>
                <a:spcPts val="100"/>
              </a:spcBef>
            </a:pPr>
            <a:r>
              <a:rPr sz="1400" b="0" i="0">
                <a:solidFill>
                  <a:srgbClr val="8A97AB"/>
                </a:solidFill>
                <a:latin typeface="Microsoft YaHei"/>
                <a:ea typeface="Microsoft YaHei"/>
              </a:rPr>
              <a:t>相对 9 月 9 日计划的变化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35024"/>
            <a:ext cx="11183112" cy="13716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481328"/>
            <a:ext cx="11183112" cy="162661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481328"/>
            <a:ext cx="64008" cy="1626616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536192"/>
            <a:ext cx="10744200" cy="153517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1500" b="1" i="0">
                <a:solidFill>
                  <a:srgbClr val="1E2B3A"/>
                </a:solidFill>
                <a:latin typeface="Segoe UI"/>
                <a:ea typeface="Microsoft YaHei"/>
              </a:rPr>
              <a:t>Main-equipment enquiry now waits on nozzle orientation and the HTF runs — not on a full drawing sign-off, and not on the UK visit.</a:t>
            </a:r>
          </a:p>
          <a:p>
            <a:pPr>
              <a:spcBef>
                <a:spcPts val="300"/>
              </a:spcBef>
            </a:pPr>
            <a:r>
              <a:rPr sz="1200" b="0" i="0">
                <a:solidFill>
                  <a:srgbClr val="8A97AB"/>
                </a:solidFill>
                <a:latin typeface="Microsoft YaHei"/>
                <a:ea typeface="Microsoft YaHei"/>
              </a:rPr>
              <a:t>主设备询价改为等管嘴朝向和 HTF 走向。不等整套图纸签完，也不等赴英。</a:t>
            </a:r>
          </a:p>
          <a:p>
            <a:pPr>
              <a:spcBef>
                <a:spcPts val="600"/>
              </a:spcBef>
            </a:pPr>
            <a:r>
              <a:rPr sz="1300" b="0" i="0">
                <a:solidFill>
                  <a:srgbClr val="94A3B8"/>
                </a:solidFill>
                <a:latin typeface="Segoe UI"/>
                <a:ea typeface="Microsoft YaHei"/>
              </a:rPr>
              <a:t>–  </a:t>
            </a:r>
            <a:r>
              <a:rPr sz="1300" b="0" i="0">
                <a:solidFill>
                  <a:srgbClr val="3C4A5A"/>
                </a:solidFill>
                <a:latin typeface="Segoe UI"/>
                <a:ea typeface="Microsoft YaHei"/>
              </a:rPr>
              <a:t>9 Sep allowed the enquiry once the reactor specification was confirmed.  On 22 Sep Keith would not comment on the 18 Aug drawings until those nozzles are shown to fit.</a:t>
            </a:r>
          </a:p>
          <a:p>
            <a:pPr>
              <a:spcBef>
                <a:spcPts val="100"/>
              </a:spcBef>
            </a:pPr>
            <a:r>
              <a:rPr sz="1200" b="0" i="0">
                <a:solidFill>
                  <a:srgbClr val="8A97AB"/>
                </a:solidFill>
                <a:latin typeface="Microsoft YaHei"/>
                <a:ea typeface="Microsoft YaHei"/>
              </a:rPr>
              <a:t>9 月 9 日的口径是反应柱规格确认后即可询价。22 日 Keith 明确：管嘴方向和 HTF 没在模型里站住之前，他不审 8 月 18 日的图。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199384"/>
            <a:ext cx="11183112" cy="1425194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3199384"/>
            <a:ext cx="64008" cy="1425194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3254248"/>
            <a:ext cx="10744200" cy="133375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1500" b="1" i="0">
                <a:solidFill>
                  <a:srgbClr val="1E2B3A"/>
                </a:solidFill>
                <a:latin typeface="Segoe UI"/>
                <a:ea typeface="Microsoft YaHei"/>
              </a:rPr>
              <a:t>Charging stairs — SW supplies them in the UK, in stainless steel, separate from the main-equipment order.</a:t>
            </a:r>
          </a:p>
          <a:p>
            <a:pPr>
              <a:spcBef>
                <a:spcPts val="300"/>
              </a:spcBef>
            </a:pPr>
            <a:r>
              <a:rPr sz="1200" b="0" i="0">
                <a:solidFill>
                  <a:srgbClr val="8A97AB"/>
                </a:solidFill>
                <a:latin typeface="Microsoft YaHei"/>
                <a:ea typeface="Microsoft YaHei"/>
              </a:rPr>
              <a:t>加料梯由 SW 在英国供货，不锈钢，不并进主设备采购。</a:t>
            </a:r>
          </a:p>
          <a:p>
            <a:pPr>
              <a:spcBef>
                <a:spcPts val="600"/>
              </a:spcBef>
            </a:pPr>
            <a:r>
              <a:rPr sz="1300" b="0" i="0">
                <a:solidFill>
                  <a:srgbClr val="94A3B8"/>
                </a:solidFill>
                <a:latin typeface="Segoe UI"/>
                <a:ea typeface="Microsoft YaHei"/>
              </a:rPr>
              <a:t>–  </a:t>
            </a:r>
            <a:r>
              <a:rPr sz="1300" b="0" i="0">
                <a:solidFill>
                  <a:srgbClr val="3C4A5A"/>
                </a:solidFill>
                <a:latin typeface="Segoe UI"/>
                <a:ea typeface="Microsoft YaHei"/>
              </a:rPr>
              <a:t>A catalogue aluminium stair is not acceptable.  China will not design or fabricate this item.  Target height is under 1.4 m.</a:t>
            </a:r>
          </a:p>
          <a:p>
            <a:pPr>
              <a:spcBef>
                <a:spcPts val="100"/>
              </a:spcBef>
            </a:pPr>
            <a:r>
              <a:rPr sz="1200" b="0" i="0">
                <a:solidFill>
                  <a:srgbClr val="8A97AB"/>
                </a:solidFill>
                <a:latin typeface="Microsoft YaHei"/>
                <a:ea typeface="Microsoft YaHei"/>
              </a:rPr>
              <a:t>不用成品铝梯。中方不设计、不制造。高度目标低于 1.4 m。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716018"/>
            <a:ext cx="11183112" cy="1425194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4716018"/>
            <a:ext cx="64008" cy="1425194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4770882"/>
            <a:ext cx="10744200" cy="133375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1500" b="1" i="0">
                <a:solidFill>
                  <a:srgbClr val="1E2B3A"/>
                </a:solidFill>
                <a:latin typeface="Segoe UI"/>
                <a:ea typeface="Microsoft YaHei"/>
              </a:rPr>
              <a:t>12–22 October is still the proposed visit.  It is not confirmed.  An early-November window is being checked.</a:t>
            </a:r>
          </a:p>
          <a:p>
            <a:pPr>
              <a:spcBef>
                <a:spcPts val="300"/>
              </a:spcBef>
            </a:pPr>
            <a:r>
              <a:rPr sz="1200" b="0" i="0">
                <a:solidFill>
                  <a:srgbClr val="8A97AB"/>
                </a:solidFill>
                <a:latin typeface="Microsoft YaHei"/>
                <a:ea typeface="Microsoft YaHei"/>
              </a:rPr>
              <a:t>10 月 12–22 日仍是建议行程，尚未确认。11 月初的备选窗口正在核实。</a:t>
            </a:r>
          </a:p>
          <a:p>
            <a:pPr>
              <a:spcBef>
                <a:spcPts val="600"/>
              </a:spcBef>
            </a:pPr>
            <a:r>
              <a:rPr sz="1300" b="0" i="0">
                <a:solidFill>
                  <a:srgbClr val="94A3B8"/>
                </a:solidFill>
                <a:latin typeface="Segoe UI"/>
                <a:ea typeface="Microsoft YaHei"/>
              </a:rPr>
              <a:t>–  </a:t>
            </a:r>
            <a:r>
              <a:rPr sz="1300" b="0" i="0">
                <a:solidFill>
                  <a:srgbClr val="3C4A5A"/>
                </a:solidFill>
                <a:latin typeface="Segoe UI"/>
                <a:ea typeface="Microsoft YaHei"/>
              </a:rPr>
              <a:t>The model work this week does not wait for that confirmation.</a:t>
            </a:r>
          </a:p>
          <a:p>
            <a:pPr>
              <a:spcBef>
                <a:spcPts val="100"/>
              </a:spcBef>
            </a:pPr>
            <a:r>
              <a:rPr sz="1200" b="0" i="0">
                <a:solidFill>
                  <a:srgbClr val="8A97AB"/>
                </a:solidFill>
                <a:latin typeface="Microsoft YaHei"/>
                <a:ea typeface="Microsoft YaHei"/>
              </a:rPr>
              <a:t>本周的模型工作不等这个日期。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6583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9AA6B8"/>
                </a:solidFill>
                <a:latin typeface="Segoe UI"/>
                <a:ea typeface="Microsoft YaHei"/>
              </a:rPr>
              <a:t>Asymchem · Sandwich Site   |   Continuous Hydrogenation Skid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6446520"/>
            <a:ext cx="4663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9AA6B8"/>
                </a:solidFill>
                <a:latin typeface="Segoe UI"/>
                <a:ea typeface="Microsoft YaHei"/>
              </a:rPr>
              <a:t>Bi-weekly Progress 2026-09-09 ~ 09-23    ·    04 / 05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47472"/>
            <a:ext cx="841248" cy="841248"/>
          </a:xfrm>
          <a:prstGeom prst="roundRect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841248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Segoe UI"/>
                <a:ea typeface="Microsoft YaHei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36192" y="365760"/>
            <a:ext cx="10058400" cy="804672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sz="2800" b="1" i="0">
                <a:solidFill>
                  <a:srgbClr val="0E9AA7"/>
                </a:solidFill>
                <a:latin typeface="Segoe UI"/>
                <a:ea typeface="Microsoft YaHei"/>
              </a:rPr>
              <a:t>Next Steps</a:t>
            </a:r>
          </a:p>
          <a:p>
            <a:pPr>
              <a:spcBef>
                <a:spcPts val="100"/>
              </a:spcBef>
            </a:pPr>
            <a:r>
              <a:rPr sz="1400" b="0" i="0">
                <a:solidFill>
                  <a:srgbClr val="8A97AB"/>
                </a:solidFill>
                <a:latin typeface="Microsoft YaHei"/>
                <a:ea typeface="Microsoft YaHei"/>
              </a:rPr>
              <a:t>下一步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35024"/>
            <a:ext cx="11183112" cy="13716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481328"/>
            <a:ext cx="11183112" cy="70332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481328"/>
            <a:ext cx="64008" cy="703326"/>
          </a:xfrm>
          <a:prstGeom prst="rect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536192"/>
            <a:ext cx="10744200" cy="61188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1500" b="1" i="0">
                <a:solidFill>
                  <a:srgbClr val="1E2B3A"/>
                </a:solidFill>
                <a:latin typeface="Segoe UI"/>
                <a:ea typeface="Microsoft YaHei"/>
              </a:rPr>
              <a:t>Fan — both layouts; reactor-3 nozzle toward the wall riser; drain and CIP valves at the tee.</a:t>
            </a:r>
          </a:p>
          <a:p>
            <a:pPr>
              <a:spcBef>
                <a:spcPts val="300"/>
              </a:spcBef>
            </a:pPr>
            <a:r>
              <a:rPr sz="1200" b="0" i="0">
                <a:solidFill>
                  <a:srgbClr val="8A97AB"/>
                </a:solidFill>
                <a:latin typeface="Microsoft YaHei"/>
                <a:ea typeface="Microsoft YaHei"/>
              </a:rPr>
              <a:t>范双双：两版布置、反应器 3 管嘴朝向穿墙立管、排净和 CIP 阀放在三通处。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276094"/>
            <a:ext cx="11183112" cy="70332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276094"/>
            <a:ext cx="64008" cy="703326"/>
          </a:xfrm>
          <a:prstGeom prst="rect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330958"/>
            <a:ext cx="10744200" cy="61188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1500" b="1" i="0">
                <a:solidFill>
                  <a:srgbClr val="1E2B3A"/>
                </a:solidFill>
                <a:latin typeface="Segoe UI"/>
                <a:ea typeface="Microsoft YaHei"/>
              </a:rPr>
              <a:t>Gao Yu — Habonim valve and actuator envelope to Fan, and whether China can buy it.</a:t>
            </a:r>
          </a:p>
          <a:p>
            <a:pPr>
              <a:spcBef>
                <a:spcPts val="300"/>
              </a:spcBef>
            </a:pPr>
            <a:r>
              <a:rPr sz="1200" b="0" i="0">
                <a:solidFill>
                  <a:srgbClr val="8A97AB"/>
                </a:solidFill>
                <a:latin typeface="Microsoft YaHei"/>
                <a:ea typeface="Microsoft YaHei"/>
              </a:rPr>
              <a:t>高宇：Habonim 阀和气动头外形交给范双双，并确认国内能否采购。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070860"/>
            <a:ext cx="11183112" cy="70332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3070860"/>
            <a:ext cx="64008" cy="703326"/>
          </a:xfrm>
          <a:prstGeom prst="rect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3125724"/>
            <a:ext cx="10744200" cy="61188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1500" b="1" i="0">
                <a:solidFill>
                  <a:srgbClr val="1E2B3A"/>
                </a:solidFill>
                <a:latin typeface="Segoe UI"/>
                <a:ea typeface="Microsoft YaHei"/>
              </a:rPr>
              <a:t>Meng — which signals stay on the pull-out module. Cable count waits on the junction box.</a:t>
            </a:r>
          </a:p>
          <a:p>
            <a:pPr>
              <a:spcBef>
                <a:spcPts val="300"/>
              </a:spcBef>
            </a:pPr>
            <a:r>
              <a:rPr sz="1200" b="0" i="0">
                <a:solidFill>
                  <a:srgbClr val="8A97AB"/>
                </a:solidFill>
                <a:latin typeface="Microsoft YaHei"/>
                <a:ea typeface="Microsoft YaHei"/>
              </a:rPr>
              <a:t>孟德智：列出可拉出模块上留下的信号。电缆数量等接线箱尺寸。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865626"/>
            <a:ext cx="11183112" cy="70332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865626"/>
            <a:ext cx="64008" cy="703326"/>
          </a:xfrm>
          <a:prstGeom prst="rect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3920489"/>
            <a:ext cx="10744200" cy="61188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1500" b="1" i="0">
                <a:solidFill>
                  <a:srgbClr val="1E2B3A"/>
                </a:solidFill>
                <a:latin typeface="Segoe UI"/>
                <a:ea typeface="Microsoft YaHei"/>
              </a:rPr>
              <a:t>Keith — send the NWD; junction-box size by 25 or 28 Sep; tidy valves when the layout is close.</a:t>
            </a:r>
          </a:p>
          <a:p>
            <a:pPr>
              <a:spcBef>
                <a:spcPts val="300"/>
              </a:spcBef>
            </a:pPr>
            <a:r>
              <a:rPr sz="1200" b="0" i="0">
                <a:solidFill>
                  <a:srgbClr val="8A97AB"/>
                </a:solidFill>
                <a:latin typeface="Microsoft YaHei"/>
                <a:ea typeface="Microsoft YaHei"/>
              </a:rPr>
              <a:t>Keith：发送 NWD；9 月 25 日或 28 日反馈接线箱；布置接近后精简阀门。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660392"/>
            <a:ext cx="11183112" cy="70332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4660392"/>
            <a:ext cx="64008" cy="703326"/>
          </a:xfrm>
          <a:prstGeom prst="rect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4715256"/>
            <a:ext cx="10744200" cy="61188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1500" b="1" i="0">
                <a:solidFill>
                  <a:srgbClr val="1E2B3A"/>
                </a:solidFill>
                <a:latin typeface="Segoe UI"/>
                <a:ea typeface="Microsoft YaHei"/>
              </a:rPr>
              <a:t>Zhao — hold the 18 Aug equipment issue until nozzles and HTF runs are accepted.</a:t>
            </a:r>
          </a:p>
          <a:p>
            <a:pPr>
              <a:spcBef>
                <a:spcPts val="300"/>
              </a:spcBef>
            </a:pPr>
            <a:r>
              <a:rPr sz="1200" b="0" i="0">
                <a:solidFill>
                  <a:srgbClr val="8A97AB"/>
                </a:solidFill>
                <a:latin typeface="Microsoft YaHei"/>
                <a:ea typeface="Microsoft YaHei"/>
              </a:rPr>
              <a:t>赵子亮：管嘴和 HTF 被接受之前，不按 8 月 18 日的图提采购。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455158"/>
            <a:ext cx="11183112" cy="70332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5455158"/>
            <a:ext cx="64008" cy="703326"/>
          </a:xfrm>
          <a:prstGeom prst="rect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510022"/>
            <a:ext cx="10744200" cy="61188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1500" b="1" i="0">
                <a:solidFill>
                  <a:srgbClr val="1E2B3A"/>
                </a:solidFill>
                <a:latin typeface="Segoe UI"/>
                <a:ea typeface="Microsoft YaHei"/>
              </a:rPr>
              <a:t>Confirm the visit window with Keith. Next session is 23 Sep, on this model.</a:t>
            </a:r>
          </a:p>
          <a:p>
            <a:pPr>
              <a:spcBef>
                <a:spcPts val="300"/>
              </a:spcBef>
            </a:pPr>
            <a:r>
              <a:rPr sz="1200" b="0" i="0">
                <a:solidFill>
                  <a:srgbClr val="8A97AB"/>
                </a:solidFill>
                <a:latin typeface="Microsoft YaHei"/>
                <a:ea typeface="Microsoft YaHei"/>
              </a:rPr>
              <a:t>与 Keith 确认赴英窗口。9 月 23 日继续对着这版模型讨论。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6583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9AA6B8"/>
                </a:solidFill>
                <a:latin typeface="Segoe UI"/>
                <a:ea typeface="Microsoft YaHei"/>
              </a:rPr>
              <a:t>Asymchem · Sandwich Site   |   Continuous Hydrogenation Skid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6446520"/>
            <a:ext cx="4663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9AA6B8"/>
                </a:solidFill>
                <a:latin typeface="Segoe UI"/>
                <a:ea typeface="Microsoft YaHei"/>
              </a:rPr>
              <a:t>Bi-weekly Progress 2026-09-09 ~ 09-23    ·    05 / 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