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47472"/>
            <a:ext cx="841248" cy="84124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84124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65760"/>
            <a:ext cx="10058400" cy="804672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2800" b="1" i="0">
                <a:solidFill>
                  <a:srgbClr val="2563EB"/>
                </a:solidFill>
                <a:latin typeface="Segoe UI"/>
                <a:ea typeface="Microsoft YaHei"/>
              </a:rPr>
              <a:t>Overall Progress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8A97AB"/>
                </a:solidFill>
                <a:latin typeface="Microsoft YaHei"/>
                <a:ea typeface="Microsoft YaHei"/>
              </a:rPr>
              <a:t>整体推进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35024"/>
            <a:ext cx="11183112" cy="13716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99616"/>
            <a:ext cx="11064240" cy="43891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Segoe UI"/>
                <a:ea typeface="Microsoft YaHei"/>
              </a:rPr>
              <a:t>●  </a:t>
            </a:r>
            <a:r>
              <a:rPr sz="1600" b="1" i="0">
                <a:solidFill>
                  <a:srgbClr val="1E2B3A"/>
                </a:solidFill>
                <a:latin typeface="Segoe UI"/>
                <a:ea typeface="Microsoft YaHei"/>
              </a:rPr>
              <a:t>21 Sep — first 3D on the 8 Sep direction, issued by email.  22 Sep — reviewed live with Keith.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9 月 21 日发出按 9 月 8 日方向排的第一版 3D；9 月 22 日与 Keith 对照模型过完。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29968"/>
            <a:ext cx="11064240" cy="43891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Segoe UI"/>
                <a:ea typeface="Microsoft YaHei"/>
              </a:rPr>
              <a:t>●  </a:t>
            </a:r>
            <a:r>
              <a:rPr sz="1600" b="1" i="0">
                <a:solidFill>
                  <a:srgbClr val="1E2B3A"/>
                </a:solidFill>
                <a:latin typeface="Segoe UI"/>
                <a:ea typeface="Microsoft YaHei"/>
              </a:rPr>
              <a:t>The maintenance principle is unchanged: pull the front module out.  No central walkway.  Shipping height stays 2.5 m.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维护原则未变：前撬拉出检修，不留中间通道，运输高度仍为 2.5 m。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064240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Segoe UI"/>
                <a:ea typeface="Microsoft YaHei"/>
              </a:rPr>
              <a:t>●  </a:t>
            </a:r>
            <a:r>
              <a:rPr sz="1600" b="1" i="0">
                <a:solidFill>
                  <a:srgbClr val="1E2B3A"/>
                </a:solidFill>
                <a:latin typeface="Segoe UI"/>
                <a:ea typeface="Microsoft YaHei"/>
              </a:rPr>
              <a:t>Tracker: 62 closed, 44 pending, 29 open.  Nothing moved to closed this fortnight.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跟踪表：已关闭 62，待定 44，未关闭 29。本双周没有新的关闭项。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300" b="0" i="0">
                <a:solidFill>
                  <a:srgbClr val="3C4A5A"/>
                </a:solidFill>
                <a:latin typeface="Segoe UI"/>
                <a:ea typeface="Microsoft YaHei"/>
              </a:rPr>
              <a:t>The movement is on the model and on three rules Keith set on 22 Sep — not on line-by-line closure.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             本期推进在模型和 22 日 Keith 定下的三条规则上，不在逐条关项上。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364992"/>
            <a:ext cx="11064240" cy="43891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Segoe UI"/>
                <a:ea typeface="Microsoft YaHei"/>
              </a:rPr>
              <a:t>●  </a:t>
            </a:r>
            <a:r>
              <a:rPr sz="1600" b="1" i="0">
                <a:solidFill>
                  <a:srgbClr val="1E2B3A"/>
                </a:solidFill>
                <a:latin typeface="Segoe UI"/>
                <a:ea typeface="Microsoft YaHei"/>
              </a:rPr>
              <a:t>Critical path has narrowed: nozzle direction and the HTF runs, then Keith can release the 18 Aug equipment drawings.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关键路径收窄为：先定管嘴朝向和 HTF 走向，Keith 才能放行 8 月 18 日的主设备图。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AA6B8"/>
                </a:solidFill>
                <a:latin typeface="Segoe UI"/>
                <a:ea typeface="Microsoft YaHei"/>
              </a:rPr>
              <a:t>Asymchem · Sandwich Site   |   Continuous Hydrogenation Skid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6446520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6B8"/>
                </a:solidFill>
                <a:latin typeface="Segoe UI"/>
                <a:ea typeface="Microsoft YaHei"/>
              </a:rPr>
              <a:t>Bi-weekly Progress 2026-09-09 ~ 09-23    ·    01 / 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47472"/>
            <a:ext cx="841248" cy="841248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84124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65760"/>
            <a:ext cx="10058400" cy="804672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2800" b="1" i="0">
                <a:solidFill>
                  <a:srgbClr val="16A34A"/>
                </a:solidFill>
                <a:latin typeface="Segoe UI"/>
                <a:ea typeface="Microsoft YaHei"/>
              </a:rPr>
              <a:t>What 22 Sep Settled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8A97AB"/>
                </a:solidFill>
                <a:latin typeface="Microsoft YaHei"/>
                <a:ea typeface="Microsoft YaHei"/>
              </a:rPr>
              <a:t>9 月 22 日已说清的技术规则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35024"/>
            <a:ext cx="11183112" cy="13716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11064240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i="0">
                <a:solidFill>
                  <a:srgbClr val="16A34A"/>
                </a:solidFill>
                <a:latin typeface="Segoe UI"/>
                <a:ea typeface="Microsoft YaHei"/>
              </a:rPr>
              <a:t>●  </a:t>
            </a:r>
            <a:r>
              <a:rPr sz="1600" b="1" i="0">
                <a:solidFill>
                  <a:srgbClr val="1E2B3A"/>
                </a:solidFill>
                <a:latin typeface="Segoe UI"/>
                <a:ea typeface="Microsoft YaHei"/>
              </a:rPr>
              <a:t>TCU — the wall penetration is fixed.  Ten pipes may stack after the wall.  The five TCU units follow our nozzles.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TCU：穿墙位置已定。10 根管过墙后可以叠成两层。5 台 TCU 跟着我方管口走。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300" b="0" i="0">
                <a:solidFill>
                  <a:srgbClr val="3C4A5A"/>
                </a:solidFill>
                <a:latin typeface="Segoe UI"/>
                <a:ea typeface="Microsoft YaHei"/>
              </a:rPr>
              <a:t>One vent on the SW side of the wall, not ten vents on the skid.  Wall plate is flanged both sides — no site weld in the gap.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             排气只留一个点，放在墙的 SW 侧，不在撬上放 10 个排气阀。穿墙板两侧法兰对接，窄处不现场焊接。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49424"/>
            <a:ext cx="11064240" cy="98755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i="0">
                <a:solidFill>
                  <a:srgbClr val="16A34A"/>
                </a:solidFill>
                <a:latin typeface="Segoe UI"/>
                <a:ea typeface="Microsoft YaHei"/>
              </a:rPr>
              <a:t>●  </a:t>
            </a:r>
            <a:r>
              <a:rPr sz="1600" b="1" i="0">
                <a:solidFill>
                  <a:srgbClr val="1E2B3A"/>
                </a:solidFill>
                <a:latin typeface="Segoe UI"/>
                <a:ea typeface="Microsoft YaHei"/>
              </a:rPr>
              <a:t>Layout — two options will be drawn and compared.  Not a freeze yet.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布置先出两版对比，这次会上没有冻结。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300" b="0" i="0">
                <a:solidFill>
                  <a:srgbClr val="3C4A5A"/>
                </a:solidFill>
                <a:latin typeface="Segoe UI"/>
                <a:ea typeface="Microsoft YaHei"/>
              </a:rPr>
              <a:t>Fan’s option: swap SE01 / CU01 with the rear valves, so the valves stay in front when the module is pulled.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             范双双的方案：SE01 / CU01 与后部阀门对调，前撬拉出后阀门仍在前面。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300" b="0" i="0">
                <a:solidFill>
                  <a:srgbClr val="3C4A5A"/>
                </a:solidFill>
                <a:latin typeface="Segoe UI"/>
                <a:ea typeface="Microsoft YaHei"/>
              </a:rPr>
              <a:t>Keith’s option: condenser slightly forward; separator turned to the wall so the level gauge withdraws from the end.  The hole in the middle takes fully welded HTF.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             Keith 的方案：冷凝器略向前；分离器靠墙转约 90°，液位计从端部抽出。中间空档走全焊接 HTF。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291840"/>
            <a:ext cx="11064240" cy="43891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i="0">
                <a:solidFill>
                  <a:srgbClr val="16A34A"/>
                </a:solidFill>
                <a:latin typeface="Segoe UI"/>
                <a:ea typeface="Microsoft YaHei"/>
              </a:rPr>
              <a:t>●  </a:t>
            </a:r>
            <a:r>
              <a:rPr sz="1600" b="1" i="0">
                <a:solidFill>
                  <a:srgbClr val="1E2B3A"/>
                </a:solidFill>
                <a:latin typeface="Segoe UI"/>
                <a:ea typeface="Microsoft YaHei"/>
              </a:rPr>
              <a:t>Reactor 3 HTF nozzle turns toward the wall riser.  The pipe no longer runs out to the skid end and doubles back.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反应器 3 的 HTF 管嘴改朝穿墙立管。管子不再先跑到撬端再折回。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785616"/>
            <a:ext cx="11064240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i="0">
                <a:solidFill>
                  <a:srgbClr val="16A34A"/>
                </a:solidFill>
                <a:latin typeface="Segoe UI"/>
                <a:ea typeface="Microsoft YaHei"/>
              </a:rPr>
              <a:t>●  </a:t>
            </a:r>
            <a:r>
              <a:rPr sz="1600" b="1" i="0">
                <a:solidFill>
                  <a:srgbClr val="1E2B3A"/>
                </a:solidFill>
                <a:latin typeface="Segoe UI"/>
                <a:ea typeface="Microsoft YaHei"/>
              </a:rPr>
              <a:t>Drains and CIP — valve at the tee, hose at the front.  PSV-025 and PSV-019 stay separate and move to the skid edge.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排净和 CIP：阀紧贴三通，软管接口在撬前。PSV-025 与 PSV-019 不合并，挪到撬边。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300" b="0" i="0">
                <a:solidFill>
                  <a:srgbClr val="3C4A5A"/>
                </a:solidFill>
                <a:latin typeface="Segoe UI"/>
                <a:ea typeface="Microsoft YaHei"/>
              </a:rPr>
              <a:t>Unreachable valves take a compact Habonim actuated ball valve, operated from the end.  A 300–400 mm reach can stay manual.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             够不到的阀用 Habonim 小型气动球阀，在撬端操作。伸手 300–400 mm 能到的可以保持手动。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AA6B8"/>
                </a:solidFill>
                <a:latin typeface="Segoe UI"/>
                <a:ea typeface="Microsoft YaHei"/>
              </a:rPr>
              <a:t>Asymchem · Sandwich Site   |   Continuous Hydrogenation Skid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6446520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6B8"/>
                </a:solidFill>
                <a:latin typeface="Segoe UI"/>
                <a:ea typeface="Microsoft YaHei"/>
              </a:rPr>
              <a:t>Bi-weekly Progress 2026-09-09 ~ 09-23    ·    02 / 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47472"/>
            <a:ext cx="841248" cy="84124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84124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65760"/>
            <a:ext cx="10058400" cy="804672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2800" b="1" i="0">
                <a:solidFill>
                  <a:srgbClr val="DC2626"/>
                </a:solidFill>
                <a:latin typeface="Segoe UI"/>
                <a:ea typeface="Microsoft YaHei"/>
              </a:rPr>
              <a:t>What Changes the Plan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8A97AB"/>
                </a:solidFill>
                <a:latin typeface="Microsoft YaHei"/>
                <a:ea typeface="Microsoft YaHei"/>
              </a:rPr>
              <a:t>相对 9 月 9 日计划的变化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35024"/>
            <a:ext cx="11183112" cy="13716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11064240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i="0">
                <a:solidFill>
                  <a:srgbClr val="DC2626"/>
                </a:solidFill>
                <a:latin typeface="Segoe UI"/>
                <a:ea typeface="Microsoft YaHei"/>
              </a:rPr>
              <a:t>●  </a:t>
            </a:r>
            <a:r>
              <a:rPr sz="1600" b="1" i="0">
                <a:solidFill>
                  <a:srgbClr val="1E2B3A"/>
                </a:solidFill>
                <a:latin typeface="Segoe UI"/>
                <a:ea typeface="Microsoft YaHei"/>
              </a:rPr>
              <a:t>Main-equipment enquiry now waits on nozzle orientation and the HTF runs — not on a full drawing sign-off, and not on the UK visit.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主设备询价改为等管嘴朝向和 HTF 走向。不等整套图纸签完，也不等赴英。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300" b="0" i="0">
                <a:solidFill>
                  <a:srgbClr val="3C4A5A"/>
                </a:solidFill>
                <a:latin typeface="Segoe UI"/>
                <a:ea typeface="Microsoft YaHei"/>
              </a:rPr>
              <a:t>9 Sep allowed the enquiry once the reactor specification was confirmed.  On 22 Sep Keith would not comment on the 18 Aug drawings until those nozzles are shown to fit.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             9 月 9 日的口径是反应柱规格确认后即可询价。22 日 Keith 明确：管嘴方向和 HTF 没在模型里站住之前，他不审 8 月 18 日的图。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67712"/>
            <a:ext cx="11064240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i="0">
                <a:solidFill>
                  <a:srgbClr val="DC2626"/>
                </a:solidFill>
                <a:latin typeface="Segoe UI"/>
                <a:ea typeface="Microsoft YaHei"/>
              </a:rPr>
              <a:t>●  </a:t>
            </a:r>
            <a:r>
              <a:rPr sz="1600" b="1" i="0">
                <a:solidFill>
                  <a:srgbClr val="1E2B3A"/>
                </a:solidFill>
                <a:latin typeface="Segoe UI"/>
                <a:ea typeface="Microsoft YaHei"/>
              </a:rPr>
              <a:t>Charging stairs — SW supplies them in the UK, in stainless steel, separate from the main-equipment order.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加料梯由 SW 在英国供货，不锈钢，不并进主设备采购。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300" b="0" i="0">
                <a:solidFill>
                  <a:srgbClr val="3C4A5A"/>
                </a:solidFill>
                <a:latin typeface="Segoe UI"/>
                <a:ea typeface="Microsoft YaHei"/>
              </a:rPr>
              <a:t>A catalogue aluminium stair is not acceptable.  China will not design or fabricate this item.  Target height is under 1.4 m.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             不用成品铝梯。中方不设计、不制造。高度目标低于 1.4 m。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54096"/>
            <a:ext cx="11064240" cy="713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i="0">
                <a:solidFill>
                  <a:srgbClr val="DC2626"/>
                </a:solidFill>
                <a:latin typeface="Segoe UI"/>
                <a:ea typeface="Microsoft YaHei"/>
              </a:rPr>
              <a:t>●  </a:t>
            </a:r>
            <a:r>
              <a:rPr sz="1600" b="1" i="0">
                <a:solidFill>
                  <a:srgbClr val="1E2B3A"/>
                </a:solidFill>
                <a:latin typeface="Segoe UI"/>
                <a:ea typeface="Microsoft YaHei"/>
              </a:rPr>
              <a:t>12–22 October is still the proposed visit.  It is not confirmed.  An early-November window is being checked.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10 月 12–22 日仍是建议行程，尚未确认。11 月初的备选窗口正在核实。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300" b="0" i="0">
                <a:solidFill>
                  <a:srgbClr val="3C4A5A"/>
                </a:solidFill>
                <a:latin typeface="Segoe UI"/>
                <a:ea typeface="Microsoft YaHei"/>
              </a:rPr>
              <a:t>The model work this week does not wait for that confirmation.</a:t>
            </a:r>
          </a:p>
          <a:p>
            <a:r>
              <a:rPr sz="1000" b="0" i="0">
                <a:solidFill>
                  <a:srgbClr val="8A97AB"/>
                </a:solidFill>
                <a:latin typeface="Microsoft YaHei"/>
                <a:ea typeface="Microsoft YaHei"/>
              </a:rPr>
              <a:t>             本周的模型工作不等这个日期。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79"/>
            <a:ext cx="11064240" cy="43891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400" b="1" i="0">
                <a:solidFill>
                  <a:srgbClr val="8A97AB"/>
                </a:solidFill>
                <a:latin typeface="Segoe UI"/>
                <a:ea typeface="Microsoft YaHei"/>
              </a:rPr>
              <a:t>●  </a:t>
            </a:r>
            <a:r>
              <a:rPr sz="1400" b="0" i="0">
                <a:solidFill>
                  <a:srgbClr val="5A6675"/>
                </a:solidFill>
                <a:latin typeface="Segoe UI"/>
                <a:ea typeface="Microsoft YaHei"/>
              </a:rPr>
              <a:t>Still open, and not a layout choice for this meeting: width cannot drop 100–200 mm (pump and BT01).  Cleaning-mode high-level bypass is in the manual, not yet agreed.</a:t>
            </a:r>
          </a:p>
          <a:p>
            <a:pPr>
              <a:spcBef>
                <a:spcPts val="100"/>
              </a:spcBef>
            </a:pPr>
            <a:r>
              <a:rPr sz="1050" b="0" i="0">
                <a:solidFill>
                  <a:srgbClr val="8A97AB"/>
                </a:solidFill>
                <a:latin typeface="Microsoft YaHei"/>
                <a:ea typeface="Microsoft YaHei"/>
              </a:rPr>
              <a:t>     本次不需要领导选型。宽度受泵和 BT01 限制，减 100–200 mm 没有意义。清洗模式旁路高液位联锁已写入手册，Keith 尚未认可。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AA6B8"/>
                </a:solidFill>
                <a:latin typeface="Segoe UI"/>
                <a:ea typeface="Microsoft YaHei"/>
              </a:rPr>
              <a:t>Asymchem · Sandwich Site   |   Continuous Hydrogenation Skid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6446520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6B8"/>
                </a:solidFill>
                <a:latin typeface="Segoe UI"/>
                <a:ea typeface="Microsoft YaHei"/>
              </a:rPr>
              <a:t>Bi-weekly Progress 2026-09-09 ~ 09-23    ·    03 / 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47472"/>
            <a:ext cx="841248" cy="841248"/>
          </a:xfrm>
          <a:prstGeom prst="round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841248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Segoe UI"/>
                <a:ea typeface="Microsoft YaHe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365760"/>
            <a:ext cx="10058400" cy="804672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2800" b="1" i="0">
                <a:solidFill>
                  <a:srgbClr val="0E9AA7"/>
                </a:solidFill>
                <a:latin typeface="Segoe UI"/>
                <a:ea typeface="Microsoft YaHei"/>
              </a:rPr>
              <a:t>Next Steps</a:t>
            </a:r>
          </a:p>
          <a:p>
            <a:pPr>
              <a:spcBef>
                <a:spcPts val="100"/>
              </a:spcBef>
            </a:pPr>
            <a:r>
              <a:rPr sz="1400" b="0" i="0">
                <a:solidFill>
                  <a:srgbClr val="8A97AB"/>
                </a:solidFill>
                <a:latin typeface="Microsoft YaHei"/>
                <a:ea typeface="Microsoft YaHei"/>
              </a:rPr>
              <a:t>下一步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35024"/>
            <a:ext cx="11183112" cy="13716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81328"/>
            <a:ext cx="11064240" cy="43891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i="0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600" b="1" i="0">
                <a:solidFill>
                  <a:srgbClr val="1E2B3A"/>
                </a:solidFill>
                <a:latin typeface="Segoe UI"/>
                <a:ea typeface="Microsoft YaHei"/>
              </a:rPr>
              <a:t>Fan — draw both layouts, turn the reactor-3 nozzle toward the wall riser, and place drain / CIP valves at the tee.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范双双：两版布置都画出来；反应器 3 管嘴朝向穿墙立管；排净 / CIP 阀放到三通处。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75104"/>
            <a:ext cx="11064240" cy="43891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i="0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600" b="1" i="0">
                <a:solidFill>
                  <a:srgbClr val="1E2B3A"/>
                </a:solidFill>
                <a:latin typeface="Segoe UI"/>
                <a:ea typeface="Microsoft YaHei"/>
              </a:rPr>
              <a:t>Gao Yu — Habonim ball valve and actuator envelope to Fan, and whether it can be bought in China.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高宇：把 Habonim 球阀和气动头的外形给范双双，并确认国内能否买到。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68880"/>
            <a:ext cx="11064240" cy="43891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i="0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600" b="1" i="0">
                <a:solidFill>
                  <a:srgbClr val="1E2B3A"/>
                </a:solidFill>
                <a:latin typeface="Segoe UI"/>
                <a:ea typeface="Microsoft YaHei"/>
              </a:rPr>
              <a:t>Meng — which signals stay on the pull-out module, and which still leave it.  Cable count waits on the junction-box size.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孟德智：可拉出模块上哪些信号留在本撬、哪些还要外引。电缆数量等接线箱尺寸。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62656"/>
            <a:ext cx="11064240" cy="43891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i="0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600" b="1" i="0">
                <a:solidFill>
                  <a:srgbClr val="1E2B3A"/>
                </a:solidFill>
                <a:latin typeface="Segoe UI"/>
                <a:ea typeface="Microsoft YaHei"/>
              </a:rPr>
              <a:t>Keith — send the NWD model; junction-box feedback by 25 or 28 Sep; valve tidy-up once the layout is close.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Keith：发 NWD；接线箱 9 月 25 日或 28 日反馈；布置接近后再精简阀门。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456432"/>
            <a:ext cx="11064240" cy="43891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i="0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600" b="1" i="0">
                <a:solidFill>
                  <a:srgbClr val="1E2B3A"/>
                </a:solidFill>
                <a:latin typeface="Segoe UI"/>
                <a:ea typeface="Microsoft YaHei"/>
              </a:rPr>
              <a:t>Zhao — hold the 18 Aug equipment issue until the nozzles and HTF runs are accepted.  CE document set continues in parallel.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赵子亮：管嘴和 HTF 被接受前，不按 8 月 18 日图提采购。CE 资料并行准备。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950208"/>
            <a:ext cx="11064240" cy="43891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i="0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600" b="1" i="0">
                <a:solidFill>
                  <a:srgbClr val="1E2B3A"/>
                </a:solidFill>
                <a:latin typeface="Segoe UI"/>
                <a:ea typeface="Microsoft YaHei"/>
              </a:rPr>
              <a:t>Confirm the visit window with Keith.  Next technical session: 23 Sep, on the same model.</a:t>
            </a:r>
          </a:p>
          <a:p>
            <a:pPr>
              <a:spcBef>
                <a:spcPts val="100"/>
              </a:spcBef>
            </a:pPr>
            <a:r>
              <a:rPr sz="1150" b="0" i="0">
                <a:solidFill>
                  <a:srgbClr val="8A97AB"/>
                </a:solidFill>
                <a:latin typeface="Microsoft YaHei"/>
                <a:ea typeface="Microsoft YaHei"/>
              </a:rPr>
              <a:t>     与 Keith 确认赴英窗口。下一次技术会是 9 月 23 日，仍对着这版模型。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6583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9AA6B8"/>
                </a:solidFill>
                <a:latin typeface="Segoe UI"/>
                <a:ea typeface="Microsoft YaHei"/>
              </a:rPr>
              <a:t>Asymchem · Sandwich Site   |   Continuous Hydrogenation Skid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6446520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9AA6B8"/>
                </a:solidFill>
                <a:latin typeface="Segoe UI"/>
                <a:ea typeface="Microsoft YaHei"/>
              </a:rPr>
              <a:t>Bi-weekly Progress 2026-09-09 ~ 09-23    ·    04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